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4"/>
  </p:notesMasterIdLst>
  <p:sldIdLst>
    <p:sldId id="256" r:id="rId2"/>
    <p:sldId id="258" r:id="rId3"/>
    <p:sldId id="297" r:id="rId4"/>
    <p:sldId id="299" r:id="rId5"/>
    <p:sldId id="300" r:id="rId6"/>
    <p:sldId id="261" r:id="rId7"/>
    <p:sldId id="263" r:id="rId8"/>
    <p:sldId id="302" r:id="rId9"/>
    <p:sldId id="264" r:id="rId10"/>
    <p:sldId id="303" r:id="rId11"/>
    <p:sldId id="259" r:id="rId12"/>
    <p:sldId id="275" r:id="rId13"/>
  </p:sldIdLst>
  <p:sldSz cx="9144000" cy="5143500" type="screen16x9"/>
  <p:notesSz cx="6858000" cy="9144000"/>
  <p:embeddedFontLst>
    <p:embeddedFont>
      <p:font typeface="Bai Jamjuree" pitchFamily="2" charset="-34"/>
      <p:regular r:id="rId15"/>
      <p:bold r:id="rId16"/>
      <p:italic r:id="rId17"/>
      <p:boldItalic r:id="rId18"/>
    </p:embeddedFont>
    <p:embeddedFont>
      <p:font typeface="Figtree" pitchFamily="2" charset="0"/>
      <p:regular r:id="rId19"/>
      <p:bold r:id="rId20"/>
      <p:italic r:id="rId21"/>
      <p:boldItalic r:id="rId22"/>
    </p:embeddedFont>
    <p:embeddedFont>
      <p:font typeface="Nunito" pitchFamily="2" charset="77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BAE4BB4-5C17-4686-89B4-C5788B5639EE}">
  <a:tblStyle styleId="{5BAE4BB4-5C17-4686-89B4-C5788B5639E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E76EBB-369B-4E3F-9BCD-1EC8319B679F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16"/>
    <p:restoredTop sz="88957"/>
  </p:normalViewPr>
  <p:slideViewPr>
    <p:cSldViewPr snapToGrid="0">
      <p:cViewPr varScale="1">
        <p:scale>
          <a:sx n="150" d="100"/>
          <a:sy n="150" d="100"/>
        </p:scale>
        <p:origin x="60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9a72137f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9a72137f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eb4c021957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eb4c021957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E560D392-9E9A-6567-5583-98F63BFD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9bcf0d2215_0_18:notes">
            <a:extLst>
              <a:ext uri="{FF2B5EF4-FFF2-40B4-BE49-F238E27FC236}">
                <a16:creationId xmlns:a16="http://schemas.microsoft.com/office/drawing/2014/main" id="{44F83139-5F4E-50F4-E808-0BACEA77B6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9bcf0d2215_0_18:notes">
            <a:extLst>
              <a:ext uri="{FF2B5EF4-FFF2-40B4-BE49-F238E27FC236}">
                <a16:creationId xmlns:a16="http://schemas.microsoft.com/office/drawing/2014/main" id="{94EA2D74-A4CD-6DAF-2E89-202F3B747C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7225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>
          <a:extLst>
            <a:ext uri="{FF2B5EF4-FFF2-40B4-BE49-F238E27FC236}">
              <a16:creationId xmlns:a16="http://schemas.microsoft.com/office/drawing/2014/main" id="{053495C2-334A-D28E-F90C-92C9AAF2A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29bcf0d2215_0_18:notes">
            <a:extLst>
              <a:ext uri="{FF2B5EF4-FFF2-40B4-BE49-F238E27FC236}">
                <a16:creationId xmlns:a16="http://schemas.microsoft.com/office/drawing/2014/main" id="{3C3D77FC-55C8-FCB4-CDC4-84B3ABE43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29bcf0d2215_0_18:notes">
            <a:extLst>
              <a:ext uri="{FF2B5EF4-FFF2-40B4-BE49-F238E27FC236}">
                <a16:creationId xmlns:a16="http://schemas.microsoft.com/office/drawing/2014/main" id="{21B211A0-0353-DB75-3F9C-B8B532DD63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79984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29a72137f5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29a72137f5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eb4c021957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eb4c021957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BFBBEB40-8E50-DCEC-18EA-8F4DB7449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eb4c021957_0_64:notes">
            <a:extLst>
              <a:ext uri="{FF2B5EF4-FFF2-40B4-BE49-F238E27FC236}">
                <a16:creationId xmlns:a16="http://schemas.microsoft.com/office/drawing/2014/main" id="{D6590C5F-14C5-8084-9129-503729232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eb4c021957_0_64:notes">
            <a:extLst>
              <a:ext uri="{FF2B5EF4-FFF2-40B4-BE49-F238E27FC236}">
                <a16:creationId xmlns:a16="http://schemas.microsoft.com/office/drawing/2014/main" id="{361FE5DF-507C-5F59-3523-81E62996B7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976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eb4c021957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eb4c021957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7BE0E2CC-A50B-95DD-9348-0578AF891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1eb4c021957_0_64:notes">
            <a:extLst>
              <a:ext uri="{FF2B5EF4-FFF2-40B4-BE49-F238E27FC236}">
                <a16:creationId xmlns:a16="http://schemas.microsoft.com/office/drawing/2014/main" id="{3F46E0FB-8846-7FB7-F2E5-F362DD7635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1eb4c021957_0_64:notes">
            <a:extLst>
              <a:ext uri="{FF2B5EF4-FFF2-40B4-BE49-F238E27FC236}">
                <a16:creationId xmlns:a16="http://schemas.microsoft.com/office/drawing/2014/main" id="{EF5B24DB-B871-2820-024E-4CD22FBC10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97821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1eb3200465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1eb3200465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b1fa4ddd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b1fa4ddd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rot="-546">
            <a:off x="2683643" y="3249926"/>
            <a:ext cx="3776700" cy="426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133625" y="1466963"/>
            <a:ext cx="6876900" cy="172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-419112"/>
            <a:ext cx="205740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43266">
            <a:off x="6900850" y="3854962"/>
            <a:ext cx="852500" cy="149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1291925" y="2831325"/>
            <a:ext cx="2907600" cy="14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ubTitle" idx="2"/>
          </p:nvPr>
        </p:nvSpPr>
        <p:spPr>
          <a:xfrm>
            <a:off x="4946800" y="2831325"/>
            <a:ext cx="2907600" cy="14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 idx="3"/>
          </p:nvPr>
        </p:nvSpPr>
        <p:spPr>
          <a:xfrm>
            <a:off x="1289752" y="2351250"/>
            <a:ext cx="2912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title" idx="4"/>
          </p:nvPr>
        </p:nvSpPr>
        <p:spPr>
          <a:xfrm>
            <a:off x="4951477" y="2351250"/>
            <a:ext cx="28983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33" name="Google Shape;3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43275">
            <a:off x="-123067" y="3314843"/>
            <a:ext cx="722082" cy="126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753338" y="1417813"/>
            <a:ext cx="39378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ubTitle" idx="1"/>
          </p:nvPr>
        </p:nvSpPr>
        <p:spPr>
          <a:xfrm rot="-262">
            <a:off x="753337" y="1929446"/>
            <a:ext cx="3937800" cy="17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>
            <a:spLocks noGrp="1"/>
          </p:cNvSpPr>
          <p:nvPr>
            <p:ph type="pic" idx="2"/>
          </p:nvPr>
        </p:nvSpPr>
        <p:spPr>
          <a:xfrm>
            <a:off x="4984463" y="870001"/>
            <a:ext cx="3406200" cy="3403500"/>
          </a:xfrm>
          <a:prstGeom prst="ellipse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pic>
        <p:nvPicPr>
          <p:cNvPr id="42" name="Google Shape;4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64269">
            <a:off x="2802580" y="3533746"/>
            <a:ext cx="1545013" cy="2374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1789200" y="919200"/>
            <a:ext cx="5565600" cy="136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1131850" y="1294750"/>
            <a:ext cx="4162800" cy="11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1442600" y="2589925"/>
            <a:ext cx="3541200" cy="125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>
            <a:spLocks noGrp="1"/>
          </p:cNvSpPr>
          <p:nvPr>
            <p:ph type="pic" idx="2"/>
          </p:nvPr>
        </p:nvSpPr>
        <p:spPr>
          <a:xfrm>
            <a:off x="-7650" y="-7650"/>
            <a:ext cx="9159300" cy="51588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720000" y="4000500"/>
            <a:ext cx="7704000" cy="6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170907" y="2307900"/>
            <a:ext cx="1439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2" hasCustomPrompt="1"/>
          </p:nvPr>
        </p:nvSpPr>
        <p:spPr>
          <a:xfrm rot="3096">
            <a:off x="4238844" y="3338209"/>
            <a:ext cx="6663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3" hasCustomPrompt="1"/>
          </p:nvPr>
        </p:nvSpPr>
        <p:spPr>
          <a:xfrm>
            <a:off x="6987749" y="3338225"/>
            <a:ext cx="6663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4" hasCustomPrompt="1"/>
          </p:nvPr>
        </p:nvSpPr>
        <p:spPr>
          <a:xfrm>
            <a:off x="4238843" y="1567424"/>
            <a:ext cx="6663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5"/>
          </p:nvPr>
        </p:nvSpPr>
        <p:spPr>
          <a:xfrm>
            <a:off x="3852457" y="2307900"/>
            <a:ext cx="1439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title" idx="6"/>
          </p:nvPr>
        </p:nvSpPr>
        <p:spPr>
          <a:xfrm>
            <a:off x="6601507" y="2307900"/>
            <a:ext cx="1439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7"/>
          </p:nvPr>
        </p:nvSpPr>
        <p:spPr>
          <a:xfrm>
            <a:off x="6601512" y="4075800"/>
            <a:ext cx="1439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title" idx="8"/>
          </p:nvPr>
        </p:nvSpPr>
        <p:spPr>
          <a:xfrm>
            <a:off x="3852462" y="4075800"/>
            <a:ext cx="1439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9"/>
          </p:nvPr>
        </p:nvSpPr>
        <p:spPr>
          <a:xfrm>
            <a:off x="1170912" y="4075800"/>
            <a:ext cx="1439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title" idx="13" hasCustomPrompt="1"/>
          </p:nvPr>
        </p:nvSpPr>
        <p:spPr>
          <a:xfrm rot="3094">
            <a:off x="1557138" y="3338536"/>
            <a:ext cx="666600" cy="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3"/>
          <p:cNvSpPr txBox="1">
            <a:spLocks noGrp="1"/>
          </p:cNvSpPr>
          <p:nvPr>
            <p:ph type="title" idx="14" hasCustomPrompt="1"/>
          </p:nvPr>
        </p:nvSpPr>
        <p:spPr>
          <a:xfrm rot="1548">
            <a:off x="1557296" y="1567427"/>
            <a:ext cx="6663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3" name="Google Shape;73;p13"/>
          <p:cNvSpPr txBox="1">
            <a:spLocks noGrp="1"/>
          </p:cNvSpPr>
          <p:nvPr>
            <p:ph type="title" idx="15" hasCustomPrompt="1"/>
          </p:nvPr>
        </p:nvSpPr>
        <p:spPr>
          <a:xfrm rot="1547">
            <a:off x="6987740" y="1567448"/>
            <a:ext cx="666600" cy="51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idx="16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pic>
        <p:nvPicPr>
          <p:cNvPr id="75" name="Google Shape;7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43291" y="3088450"/>
            <a:ext cx="1199525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400" y="-770625"/>
            <a:ext cx="183832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71769" y="2586999"/>
            <a:ext cx="1037295" cy="158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0400" y="-770625"/>
            <a:ext cx="1838325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title" idx="2"/>
          </p:nvPr>
        </p:nvSpPr>
        <p:spPr>
          <a:xfrm>
            <a:off x="1619163" y="1530450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ubTitle" idx="1"/>
          </p:nvPr>
        </p:nvSpPr>
        <p:spPr>
          <a:xfrm>
            <a:off x="1619175" y="2010525"/>
            <a:ext cx="2867100" cy="8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2"/>
          <p:cNvSpPr txBox="1">
            <a:spLocks noGrp="1"/>
          </p:cNvSpPr>
          <p:nvPr>
            <p:ph type="title" idx="3"/>
          </p:nvPr>
        </p:nvSpPr>
        <p:spPr>
          <a:xfrm>
            <a:off x="5556893" y="1530450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8" name="Google Shape;128;p22"/>
          <p:cNvSpPr txBox="1">
            <a:spLocks noGrp="1"/>
          </p:cNvSpPr>
          <p:nvPr>
            <p:ph type="subTitle" idx="4"/>
          </p:nvPr>
        </p:nvSpPr>
        <p:spPr>
          <a:xfrm>
            <a:off x="5556901" y="2010525"/>
            <a:ext cx="2867100" cy="8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2"/>
          <p:cNvSpPr txBox="1">
            <a:spLocks noGrp="1"/>
          </p:cNvSpPr>
          <p:nvPr>
            <p:ph type="title" idx="5"/>
          </p:nvPr>
        </p:nvSpPr>
        <p:spPr>
          <a:xfrm>
            <a:off x="1619150" y="314787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subTitle" idx="6"/>
          </p:nvPr>
        </p:nvSpPr>
        <p:spPr>
          <a:xfrm>
            <a:off x="1619175" y="3629625"/>
            <a:ext cx="2867100" cy="8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2"/>
          <p:cNvSpPr txBox="1">
            <a:spLocks noGrp="1"/>
          </p:cNvSpPr>
          <p:nvPr>
            <p:ph type="title" idx="7"/>
          </p:nvPr>
        </p:nvSpPr>
        <p:spPr>
          <a:xfrm>
            <a:off x="5556880" y="3147875"/>
            <a:ext cx="28671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2" name="Google Shape;132;p22"/>
          <p:cNvSpPr txBox="1">
            <a:spLocks noGrp="1"/>
          </p:cNvSpPr>
          <p:nvPr>
            <p:ph type="subTitle" idx="8"/>
          </p:nvPr>
        </p:nvSpPr>
        <p:spPr>
          <a:xfrm>
            <a:off x="5556901" y="3629625"/>
            <a:ext cx="2867100" cy="8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7545" y="3768819"/>
            <a:ext cx="1377575" cy="2111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871346" y="379142"/>
            <a:ext cx="1609725" cy="1126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3"/>
          <p:cNvSpPr txBox="1">
            <a:spLocks noGrp="1"/>
          </p:cNvSpPr>
          <p:nvPr>
            <p:ph type="title" idx="2"/>
          </p:nvPr>
        </p:nvSpPr>
        <p:spPr>
          <a:xfrm>
            <a:off x="720000" y="1398775"/>
            <a:ext cx="246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9" name="Google Shape;139;p23"/>
          <p:cNvSpPr txBox="1">
            <a:spLocks noGrp="1"/>
          </p:cNvSpPr>
          <p:nvPr>
            <p:ph type="subTitle" idx="1"/>
          </p:nvPr>
        </p:nvSpPr>
        <p:spPr>
          <a:xfrm>
            <a:off x="720000" y="1881625"/>
            <a:ext cx="24696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title" idx="3"/>
          </p:nvPr>
        </p:nvSpPr>
        <p:spPr>
          <a:xfrm>
            <a:off x="3337196" y="1398775"/>
            <a:ext cx="246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1" name="Google Shape;141;p23"/>
          <p:cNvSpPr txBox="1">
            <a:spLocks noGrp="1"/>
          </p:cNvSpPr>
          <p:nvPr>
            <p:ph type="subTitle" idx="4"/>
          </p:nvPr>
        </p:nvSpPr>
        <p:spPr>
          <a:xfrm>
            <a:off x="3337196" y="1881625"/>
            <a:ext cx="24696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3"/>
          <p:cNvSpPr txBox="1">
            <a:spLocks noGrp="1"/>
          </p:cNvSpPr>
          <p:nvPr>
            <p:ph type="title" idx="5"/>
          </p:nvPr>
        </p:nvSpPr>
        <p:spPr>
          <a:xfrm>
            <a:off x="720000" y="3150125"/>
            <a:ext cx="246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3" name="Google Shape;143;p23"/>
          <p:cNvSpPr txBox="1">
            <a:spLocks noGrp="1"/>
          </p:cNvSpPr>
          <p:nvPr>
            <p:ph type="subTitle" idx="6"/>
          </p:nvPr>
        </p:nvSpPr>
        <p:spPr>
          <a:xfrm>
            <a:off x="720000" y="3629475"/>
            <a:ext cx="24696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3"/>
          <p:cNvSpPr txBox="1">
            <a:spLocks noGrp="1"/>
          </p:cNvSpPr>
          <p:nvPr>
            <p:ph type="title" idx="7"/>
          </p:nvPr>
        </p:nvSpPr>
        <p:spPr>
          <a:xfrm>
            <a:off x="3337196" y="3150125"/>
            <a:ext cx="246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5" name="Google Shape;145;p23"/>
          <p:cNvSpPr txBox="1">
            <a:spLocks noGrp="1"/>
          </p:cNvSpPr>
          <p:nvPr>
            <p:ph type="subTitle" idx="8"/>
          </p:nvPr>
        </p:nvSpPr>
        <p:spPr>
          <a:xfrm>
            <a:off x="3337195" y="3629475"/>
            <a:ext cx="24696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3"/>
          <p:cNvSpPr txBox="1">
            <a:spLocks noGrp="1"/>
          </p:cNvSpPr>
          <p:nvPr>
            <p:ph type="title" idx="9"/>
          </p:nvPr>
        </p:nvSpPr>
        <p:spPr>
          <a:xfrm>
            <a:off x="5954403" y="1398775"/>
            <a:ext cx="246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subTitle" idx="13"/>
          </p:nvPr>
        </p:nvSpPr>
        <p:spPr>
          <a:xfrm>
            <a:off x="5954403" y="1881625"/>
            <a:ext cx="24696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14"/>
          </p:nvPr>
        </p:nvSpPr>
        <p:spPr>
          <a:xfrm>
            <a:off x="5954403" y="3150125"/>
            <a:ext cx="2469600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5"/>
          </p:nvPr>
        </p:nvSpPr>
        <p:spPr>
          <a:xfrm>
            <a:off x="5954401" y="3629475"/>
            <a:ext cx="2469600" cy="8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9000000">
            <a:off x="7933450" y="-97013"/>
            <a:ext cx="1628775" cy="206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>
            <a:spLocks noGrp="1"/>
          </p:cNvSpPr>
          <p:nvPr>
            <p:ph type="ctrTitle"/>
          </p:nvPr>
        </p:nvSpPr>
        <p:spPr>
          <a:xfrm>
            <a:off x="2571751" y="540000"/>
            <a:ext cx="4000500" cy="11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5" name="Google Shape;165;p25"/>
          <p:cNvSpPr txBox="1">
            <a:spLocks noGrp="1"/>
          </p:cNvSpPr>
          <p:nvPr>
            <p:ph type="subTitle" idx="1"/>
          </p:nvPr>
        </p:nvSpPr>
        <p:spPr>
          <a:xfrm>
            <a:off x="2571800" y="1571250"/>
            <a:ext cx="4000500" cy="112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5"/>
          <p:cNvSpPr txBox="1">
            <a:spLocks noGrp="1"/>
          </p:cNvSpPr>
          <p:nvPr>
            <p:ph type="subTitle" idx="2"/>
          </p:nvPr>
        </p:nvSpPr>
        <p:spPr>
          <a:xfrm rot="-962">
            <a:off x="2963720" y="4229842"/>
            <a:ext cx="3216600" cy="373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25"/>
          <p:cNvSpPr txBox="1"/>
          <p:nvPr/>
        </p:nvSpPr>
        <p:spPr>
          <a:xfrm>
            <a:off x="2963750" y="3490225"/>
            <a:ext cx="3216600" cy="7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lang="en" sz="11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including icons by </a:t>
            </a:r>
            <a:r>
              <a:rPr lang="en" sz="11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and infographics &amp; images by </a:t>
            </a:r>
            <a:r>
              <a:rPr lang="en" sz="1100" b="1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8" name="Google Shape;168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9575" y="4519613"/>
            <a:ext cx="1009650" cy="101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57545" y="3768819"/>
            <a:ext cx="1377575" cy="2111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7871346" y="379142"/>
            <a:ext cx="1609725" cy="1126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464269">
            <a:off x="2802580" y="3533746"/>
            <a:ext cx="1545013" cy="2374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Figtree"/>
              <a:buNone/>
              <a:defRPr sz="3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Figtree"/>
              <a:buNone/>
              <a:defRPr sz="3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Figtree"/>
              <a:buNone/>
              <a:defRPr sz="3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Figtree"/>
              <a:buNone/>
              <a:defRPr sz="3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Figtree"/>
              <a:buNone/>
              <a:defRPr sz="3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Figtree"/>
              <a:buNone/>
              <a:defRPr sz="3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Figtree"/>
              <a:buNone/>
              <a:defRPr sz="3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Figtree"/>
              <a:buNone/>
              <a:defRPr sz="3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237083"/>
            <a:ext cx="7704000" cy="336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Char char="●"/>
              <a:defRPr sz="12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Char char="○"/>
              <a:defRPr sz="12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Char char="■"/>
              <a:defRPr sz="12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Char char="●"/>
              <a:defRPr sz="12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Char char="○"/>
              <a:defRPr sz="12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Char char="■"/>
              <a:defRPr sz="12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Char char="●"/>
              <a:defRPr sz="12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Char char="○"/>
              <a:defRPr sz="12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Bai Jamjuree"/>
              <a:buChar char="■"/>
              <a:defRPr sz="120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8" r:id="rId7"/>
    <p:sldLayoutId id="2147483659" r:id="rId8"/>
    <p:sldLayoutId id="2147483664" r:id="rId9"/>
    <p:sldLayoutId id="2147483668" r:id="rId10"/>
    <p:sldLayoutId id="2147483669" r:id="rId11"/>
    <p:sldLayoutId id="2147483671" r:id="rId12"/>
    <p:sldLayoutId id="2147483672" r:id="rId13"/>
    <p:sldLayoutId id="214748367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54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06">
          <p15:clr>
            <a:srgbClr val="EA4335"/>
          </p15:clr>
        </p15:guide>
        <p15:guide id="5" orient="horz" pos="1620">
          <p15:clr>
            <a:srgbClr val="EA4335"/>
          </p15:clr>
        </p15:guide>
        <p15:guide id="6" pos="288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db.systemsbiology.net/proteomicsToolkit/FragIonServlet.html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b.systemsbiology.net/proteomicsToolkit/FragIonServlet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1"/>
          <p:cNvSpPr txBox="1">
            <a:spLocks noGrp="1"/>
          </p:cNvSpPr>
          <p:nvPr>
            <p:ph type="subTitle" idx="1"/>
          </p:nvPr>
        </p:nvSpPr>
        <p:spPr>
          <a:xfrm rot="-546">
            <a:off x="2663159" y="3249917"/>
            <a:ext cx="3817681" cy="718579"/>
          </a:xfrm>
          <a:prstGeom prst="rect">
            <a:avLst/>
          </a:prstGeom>
          <a:solidFill>
            <a:schemeClr val="accent4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Sonsoles Liria Veiga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Bioinformatics Computing-5240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12/20/2024</a:t>
            </a:r>
            <a:endParaRPr dirty="0"/>
          </a:p>
        </p:txBody>
      </p:sp>
      <p:sp>
        <p:nvSpPr>
          <p:cNvPr id="187" name="Google Shape;187;p31"/>
          <p:cNvSpPr txBox="1">
            <a:spLocks noGrp="1"/>
          </p:cNvSpPr>
          <p:nvPr>
            <p:ph type="ctrTitle"/>
          </p:nvPr>
        </p:nvSpPr>
        <p:spPr>
          <a:xfrm>
            <a:off x="1133625" y="1466963"/>
            <a:ext cx="6876900" cy="172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424141"/>
                </a:solidFill>
              </a:rPr>
              <a:t>MS/MS Viewer</a:t>
            </a:r>
            <a:br>
              <a:rPr lang="en" dirty="0">
                <a:solidFill>
                  <a:srgbClr val="424141"/>
                </a:solidFill>
              </a:rPr>
            </a:br>
            <a:r>
              <a:rPr lang="en" dirty="0">
                <a:solidFill>
                  <a:srgbClr val="424141"/>
                </a:solidFill>
              </a:rPr>
              <a:t>Project</a:t>
            </a:r>
            <a:endParaRPr dirty="0">
              <a:solidFill>
                <a:srgbClr val="424141"/>
              </a:solidFill>
            </a:endParaRPr>
          </a:p>
        </p:txBody>
      </p:sp>
      <p:pic>
        <p:nvPicPr>
          <p:cNvPr id="188" name="Google Shape;18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300" y="-275811"/>
            <a:ext cx="2552700" cy="17921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788" y="3249613"/>
            <a:ext cx="197167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/>
          <p:nvPr/>
        </p:nvSpPr>
        <p:spPr>
          <a:xfrm>
            <a:off x="1489800" y="1478625"/>
            <a:ext cx="801300" cy="6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05" name="Google Shape;205;p33"/>
          <p:cNvSpPr/>
          <p:nvPr/>
        </p:nvSpPr>
        <p:spPr>
          <a:xfrm>
            <a:off x="4171350" y="1478613"/>
            <a:ext cx="801300" cy="6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06" name="Google Shape;206;p33"/>
          <p:cNvSpPr/>
          <p:nvPr/>
        </p:nvSpPr>
        <p:spPr>
          <a:xfrm>
            <a:off x="6920400" y="1478625"/>
            <a:ext cx="801300" cy="6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07" name="Google Shape;207;p33"/>
          <p:cNvSpPr/>
          <p:nvPr/>
        </p:nvSpPr>
        <p:spPr>
          <a:xfrm>
            <a:off x="1489800" y="3249575"/>
            <a:ext cx="801300" cy="6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08" name="Google Shape;208;p33"/>
          <p:cNvSpPr/>
          <p:nvPr/>
        </p:nvSpPr>
        <p:spPr>
          <a:xfrm>
            <a:off x="4171350" y="3249563"/>
            <a:ext cx="801300" cy="6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09" name="Google Shape;209;p33"/>
          <p:cNvSpPr/>
          <p:nvPr/>
        </p:nvSpPr>
        <p:spPr>
          <a:xfrm>
            <a:off x="6920250" y="3249550"/>
            <a:ext cx="801300" cy="6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10" name="Google Shape;210;p33"/>
          <p:cNvSpPr txBox="1">
            <a:spLocks noGrp="1"/>
          </p:cNvSpPr>
          <p:nvPr>
            <p:ph type="title"/>
          </p:nvPr>
        </p:nvSpPr>
        <p:spPr>
          <a:xfrm>
            <a:off x="1170907" y="2307900"/>
            <a:ext cx="1439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Project requirements</a:t>
            </a:r>
            <a:endParaRPr sz="1600" dirty="0"/>
          </a:p>
        </p:txBody>
      </p:sp>
      <p:sp>
        <p:nvSpPr>
          <p:cNvPr id="211" name="Google Shape;211;p33"/>
          <p:cNvSpPr txBox="1">
            <a:spLocks noGrp="1"/>
          </p:cNvSpPr>
          <p:nvPr>
            <p:ph type="title" idx="2"/>
          </p:nvPr>
        </p:nvSpPr>
        <p:spPr>
          <a:xfrm rot="3096">
            <a:off x="4238844" y="3338209"/>
            <a:ext cx="666300" cy="51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12" name="Google Shape;212;p33"/>
          <p:cNvSpPr txBox="1">
            <a:spLocks noGrp="1"/>
          </p:cNvSpPr>
          <p:nvPr>
            <p:ph type="title" idx="3"/>
          </p:nvPr>
        </p:nvSpPr>
        <p:spPr>
          <a:xfrm>
            <a:off x="6987749" y="3338225"/>
            <a:ext cx="666300" cy="5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213" name="Google Shape;213;p33"/>
          <p:cNvSpPr txBox="1">
            <a:spLocks noGrp="1"/>
          </p:cNvSpPr>
          <p:nvPr>
            <p:ph type="title" idx="4"/>
          </p:nvPr>
        </p:nvSpPr>
        <p:spPr>
          <a:xfrm>
            <a:off x="4238843" y="1567424"/>
            <a:ext cx="666300" cy="5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4" name="Google Shape;214;p33"/>
          <p:cNvSpPr txBox="1">
            <a:spLocks noGrp="1"/>
          </p:cNvSpPr>
          <p:nvPr>
            <p:ph type="title" idx="5"/>
          </p:nvPr>
        </p:nvSpPr>
        <p:spPr>
          <a:xfrm>
            <a:off x="3535102" y="2304850"/>
            <a:ext cx="2073782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600" dirty="0"/>
              <a:t>Scientific modeling trade-offs</a:t>
            </a:r>
            <a:endParaRPr sz="1600" dirty="0"/>
          </a:p>
        </p:txBody>
      </p:sp>
      <p:sp>
        <p:nvSpPr>
          <p:cNvPr id="215" name="Google Shape;215;p33"/>
          <p:cNvSpPr txBox="1">
            <a:spLocks noGrp="1"/>
          </p:cNvSpPr>
          <p:nvPr>
            <p:ph type="title" idx="6"/>
          </p:nvPr>
        </p:nvSpPr>
        <p:spPr>
          <a:xfrm>
            <a:off x="6601512" y="2304850"/>
            <a:ext cx="1439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600" dirty="0"/>
              <a:t>Tests for correctness</a:t>
            </a:r>
            <a:endParaRPr sz="1600" dirty="0"/>
          </a:p>
        </p:txBody>
      </p:sp>
      <p:sp>
        <p:nvSpPr>
          <p:cNvPr id="217" name="Google Shape;217;p33"/>
          <p:cNvSpPr txBox="1">
            <a:spLocks noGrp="1"/>
          </p:cNvSpPr>
          <p:nvPr>
            <p:ph type="title" idx="8"/>
          </p:nvPr>
        </p:nvSpPr>
        <p:spPr>
          <a:xfrm>
            <a:off x="6601349" y="4084151"/>
            <a:ext cx="1439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600" dirty="0"/>
              <a:t>Course experience</a:t>
            </a:r>
            <a:endParaRPr sz="1600" dirty="0"/>
          </a:p>
        </p:txBody>
      </p:sp>
      <p:sp>
        <p:nvSpPr>
          <p:cNvPr id="218" name="Google Shape;218;p33"/>
          <p:cNvSpPr txBox="1">
            <a:spLocks noGrp="1"/>
          </p:cNvSpPr>
          <p:nvPr>
            <p:ph type="title" idx="9"/>
          </p:nvPr>
        </p:nvSpPr>
        <p:spPr>
          <a:xfrm>
            <a:off x="3606441" y="4096926"/>
            <a:ext cx="1931103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600" dirty="0"/>
              <a:t>Bugs, difficulties and successes</a:t>
            </a:r>
            <a:endParaRPr sz="1600" dirty="0"/>
          </a:p>
        </p:txBody>
      </p:sp>
      <p:sp>
        <p:nvSpPr>
          <p:cNvPr id="219" name="Google Shape;219;p33"/>
          <p:cNvSpPr txBox="1">
            <a:spLocks noGrp="1"/>
          </p:cNvSpPr>
          <p:nvPr>
            <p:ph type="title" idx="13"/>
          </p:nvPr>
        </p:nvSpPr>
        <p:spPr>
          <a:xfrm rot="3094">
            <a:off x="1557138" y="3338536"/>
            <a:ext cx="666600" cy="5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title" idx="14"/>
          </p:nvPr>
        </p:nvSpPr>
        <p:spPr>
          <a:xfrm rot="1548">
            <a:off x="1557296" y="1567427"/>
            <a:ext cx="666300" cy="5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title" idx="15"/>
          </p:nvPr>
        </p:nvSpPr>
        <p:spPr>
          <a:xfrm rot="1547">
            <a:off x="6987740" y="1567448"/>
            <a:ext cx="666600" cy="516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22" name="Google Shape;222;p33"/>
          <p:cNvSpPr txBox="1">
            <a:spLocks noGrp="1"/>
          </p:cNvSpPr>
          <p:nvPr>
            <p:ph type="title" idx="16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4" name="Google Shape;218;p33">
            <a:extLst>
              <a:ext uri="{FF2B5EF4-FFF2-40B4-BE49-F238E27FC236}">
                <a16:creationId xmlns:a16="http://schemas.microsoft.com/office/drawing/2014/main" id="{FD5E03EC-ED10-704D-7CC4-C18EBF461B20}"/>
              </a:ext>
            </a:extLst>
          </p:cNvPr>
          <p:cNvSpPr txBox="1">
            <a:spLocks/>
          </p:cNvSpPr>
          <p:nvPr/>
        </p:nvSpPr>
        <p:spPr>
          <a:xfrm>
            <a:off x="924886" y="4084151"/>
            <a:ext cx="1931103" cy="5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>
              <a:buClr>
                <a:schemeClr val="hlink"/>
              </a:buClr>
              <a:buSzPts val="1100"/>
              <a:buFont typeface="Arial"/>
              <a:buNone/>
            </a:pPr>
            <a:r>
              <a:rPr lang="en-US" sz="1600" dirty="0"/>
              <a:t>Packages and modules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610B7F55-3CB9-5459-B299-E61B96A31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6">
            <a:extLst>
              <a:ext uri="{FF2B5EF4-FFF2-40B4-BE49-F238E27FC236}">
                <a16:creationId xmlns:a16="http://schemas.microsoft.com/office/drawing/2014/main" id="{2D8D2A27-981F-ECAF-6C8E-B7566B51A717}"/>
              </a:ext>
            </a:extLst>
          </p:cNvPr>
          <p:cNvSpPr txBox="1"/>
          <p:nvPr/>
        </p:nvSpPr>
        <p:spPr>
          <a:xfrm flipH="1">
            <a:off x="-104366" y="1393475"/>
            <a:ext cx="264261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Scan number &amp; peptide</a:t>
            </a:r>
            <a:endParaRPr sz="2400" b="1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44" name="Google Shape;444;p46">
            <a:extLst>
              <a:ext uri="{FF2B5EF4-FFF2-40B4-BE49-F238E27FC236}">
                <a16:creationId xmlns:a16="http://schemas.microsoft.com/office/drawing/2014/main" id="{E4AC9459-F2D1-DD84-A20A-F356876086EA}"/>
              </a:ext>
            </a:extLst>
          </p:cNvPr>
          <p:cNvSpPr txBox="1"/>
          <p:nvPr/>
        </p:nvSpPr>
        <p:spPr>
          <a:xfrm flipH="1">
            <a:off x="6959195" y="1393475"/>
            <a:ext cx="2054543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Match peaks and Plot</a:t>
            </a:r>
            <a:endParaRPr sz="2400" b="1" dirty="0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449" name="Google Shape;449;p46">
            <a:extLst>
              <a:ext uri="{FF2B5EF4-FFF2-40B4-BE49-F238E27FC236}">
                <a16:creationId xmlns:a16="http://schemas.microsoft.com/office/drawing/2014/main" id="{6F1F285C-9095-E80D-CB82-CE142CF395C8}"/>
              </a:ext>
            </a:extLst>
          </p:cNvPr>
          <p:cNvSpPr/>
          <p:nvPr/>
        </p:nvSpPr>
        <p:spPr>
          <a:xfrm>
            <a:off x="1067543" y="2363988"/>
            <a:ext cx="298800" cy="258900"/>
          </a:xfrm>
          <a:prstGeom prst="hexagon">
            <a:avLst>
              <a:gd name="adj" fmla="val 25000"/>
              <a:gd name="vf" fmla="val 11547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452" name="Google Shape;452;p46">
            <a:extLst>
              <a:ext uri="{FF2B5EF4-FFF2-40B4-BE49-F238E27FC236}">
                <a16:creationId xmlns:a16="http://schemas.microsoft.com/office/drawing/2014/main" id="{05A85A07-F6A3-3081-378D-93E003259B69}"/>
              </a:ext>
            </a:extLst>
          </p:cNvPr>
          <p:cNvSpPr/>
          <p:nvPr/>
        </p:nvSpPr>
        <p:spPr>
          <a:xfrm>
            <a:off x="7837067" y="2363988"/>
            <a:ext cx="298800" cy="258900"/>
          </a:xfrm>
          <a:prstGeom prst="hexagon">
            <a:avLst>
              <a:gd name="adj" fmla="val 25000"/>
              <a:gd name="vf" fmla="val 11547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6AD54D2-1859-DD18-BA04-13357A9AD076}"/>
              </a:ext>
            </a:extLst>
          </p:cNvPr>
          <p:cNvCxnSpPr>
            <a:cxnSpLocks/>
            <a:stCxn id="449" idx="0"/>
            <a:endCxn id="452" idx="3"/>
          </p:cNvCxnSpPr>
          <p:nvPr/>
        </p:nvCxnSpPr>
        <p:spPr>
          <a:xfrm>
            <a:off x="1366343" y="2493438"/>
            <a:ext cx="6470724" cy="0"/>
          </a:xfrm>
          <a:prstGeom prst="line">
            <a:avLst/>
          </a:prstGeom>
          <a:ln w="38100"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289471D-5510-ACC1-4BF5-3717E1A1E802}"/>
              </a:ext>
            </a:extLst>
          </p:cNvPr>
          <p:cNvGrpSpPr/>
          <p:nvPr/>
        </p:nvGrpSpPr>
        <p:grpSpPr>
          <a:xfrm>
            <a:off x="1001912" y="3187207"/>
            <a:ext cx="7100608" cy="1308396"/>
            <a:chOff x="1001912" y="3187207"/>
            <a:chExt cx="7100608" cy="1308396"/>
          </a:xfrm>
        </p:grpSpPr>
        <p:cxnSp>
          <p:nvCxnSpPr>
            <p:cNvPr id="428" name="Google Shape;428;p46">
              <a:extLst>
                <a:ext uri="{FF2B5EF4-FFF2-40B4-BE49-F238E27FC236}">
                  <a16:creationId xmlns:a16="http://schemas.microsoft.com/office/drawing/2014/main" id="{A29AFD16-A2E6-871D-170D-1A8FB460F291}"/>
                </a:ext>
              </a:extLst>
            </p:cNvPr>
            <p:cNvCxnSpPr>
              <a:cxnSpLocks/>
              <a:stCxn id="21" idx="0"/>
              <a:endCxn id="23" idx="0"/>
            </p:cNvCxnSpPr>
            <p:nvPr/>
          </p:nvCxnSpPr>
          <p:spPr>
            <a:xfrm rot="5400000" flipH="1" flipV="1">
              <a:off x="4572000" y="2831417"/>
              <a:ext cx="12700" cy="1749580"/>
            </a:xfrm>
            <a:prstGeom prst="bentConnector3">
              <a:avLst>
                <a:gd name="adj1" fmla="val 3096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431;p46">
              <a:extLst>
                <a:ext uri="{FF2B5EF4-FFF2-40B4-BE49-F238E27FC236}">
                  <a16:creationId xmlns:a16="http://schemas.microsoft.com/office/drawing/2014/main" id="{2FA84F81-FB3A-AD72-AD7E-66FD108DAA78}"/>
                </a:ext>
              </a:extLst>
            </p:cNvPr>
            <p:cNvCxnSpPr>
              <a:cxnSpLocks/>
              <a:stCxn id="23" idx="0"/>
              <a:endCxn id="26" idx="0"/>
            </p:cNvCxnSpPr>
            <p:nvPr/>
          </p:nvCxnSpPr>
          <p:spPr>
            <a:xfrm rot="5400000" flipH="1" flipV="1">
              <a:off x="6321580" y="2831417"/>
              <a:ext cx="12700" cy="1749580"/>
            </a:xfrm>
            <a:prstGeom prst="bentConnector3">
              <a:avLst>
                <a:gd name="adj1" fmla="val 3096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" name="Google Shape;437;p46">
              <a:extLst>
                <a:ext uri="{FF2B5EF4-FFF2-40B4-BE49-F238E27FC236}">
                  <a16:creationId xmlns:a16="http://schemas.microsoft.com/office/drawing/2014/main" id="{585EAC94-B3A7-7ED5-75A6-6E23466FAA82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V="1">
              <a:off x="1947672" y="3706207"/>
              <a:ext cx="1749538" cy="3518"/>
            </a:xfrm>
            <a:prstGeom prst="bentConnector4">
              <a:avLst>
                <a:gd name="adj1" fmla="val -462"/>
                <a:gd name="adj2" fmla="val 11276578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6" name="Google Shape;426;p46">
              <a:extLst>
                <a:ext uri="{FF2B5EF4-FFF2-40B4-BE49-F238E27FC236}">
                  <a16:creationId xmlns:a16="http://schemas.microsoft.com/office/drawing/2014/main" id="{6CD0CE06-C147-653C-3B98-5BBBD776176C}"/>
                </a:ext>
              </a:extLst>
            </p:cNvPr>
            <p:cNvSpPr txBox="1"/>
            <p:nvPr/>
          </p:nvSpPr>
          <p:spPr>
            <a:xfrm flipH="1">
              <a:off x="1041480" y="3706207"/>
              <a:ext cx="1812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rPr>
                <a:t>m/z calculation for b and y ions</a:t>
              </a:r>
              <a:endParaRPr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445" name="Google Shape;445;p46">
              <a:extLst>
                <a:ext uri="{FF2B5EF4-FFF2-40B4-BE49-F238E27FC236}">
                  <a16:creationId xmlns:a16="http://schemas.microsoft.com/office/drawing/2014/main" id="{2B3D98EF-D752-0553-31A4-91EEFE8AD1C2}"/>
                </a:ext>
              </a:extLst>
            </p:cNvPr>
            <p:cNvSpPr txBox="1"/>
            <p:nvPr/>
          </p:nvSpPr>
          <p:spPr>
            <a:xfrm flipH="1">
              <a:off x="1001912" y="4175803"/>
              <a:ext cx="18123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Created a class and saved as a module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Peptide sequence given in command-line</a:t>
              </a:r>
              <a:endParaRPr sz="1200" dirty="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453" name="Google Shape;453;p46">
              <a:extLst>
                <a:ext uri="{FF2B5EF4-FFF2-40B4-BE49-F238E27FC236}">
                  <a16:creationId xmlns:a16="http://schemas.microsoft.com/office/drawing/2014/main" id="{97742488-8E63-4B0A-A0AC-9AA759C82F2C}"/>
                </a:ext>
              </a:extLst>
            </p:cNvPr>
            <p:cNvSpPr/>
            <p:nvPr/>
          </p:nvSpPr>
          <p:spPr>
            <a:xfrm>
              <a:off x="1798272" y="3192356"/>
              <a:ext cx="298800" cy="258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454" name="Google Shape;454;p46">
              <a:extLst>
                <a:ext uri="{FF2B5EF4-FFF2-40B4-BE49-F238E27FC236}">
                  <a16:creationId xmlns:a16="http://schemas.microsoft.com/office/drawing/2014/main" id="{F15AA6C2-1BB4-7D26-5D35-75710FB6F0ED}"/>
                </a:ext>
              </a:extLst>
            </p:cNvPr>
            <p:cNvSpPr/>
            <p:nvPr/>
          </p:nvSpPr>
          <p:spPr>
            <a:xfrm>
              <a:off x="3547810" y="3192356"/>
              <a:ext cx="298800" cy="258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455" name="Google Shape;455;p46">
              <a:extLst>
                <a:ext uri="{FF2B5EF4-FFF2-40B4-BE49-F238E27FC236}">
                  <a16:creationId xmlns:a16="http://schemas.microsoft.com/office/drawing/2014/main" id="{4799B3E9-0525-F2D8-8BA6-6FE8AA5445D0}"/>
                </a:ext>
              </a:extLst>
            </p:cNvPr>
            <p:cNvSpPr/>
            <p:nvPr/>
          </p:nvSpPr>
          <p:spPr>
            <a:xfrm>
              <a:off x="5305061" y="3192356"/>
              <a:ext cx="298800" cy="258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456" name="Google Shape;456;p46">
              <a:extLst>
                <a:ext uri="{FF2B5EF4-FFF2-40B4-BE49-F238E27FC236}">
                  <a16:creationId xmlns:a16="http://schemas.microsoft.com/office/drawing/2014/main" id="{B559F4D2-3680-37D9-F599-93823776F9E8}"/>
                </a:ext>
              </a:extLst>
            </p:cNvPr>
            <p:cNvSpPr/>
            <p:nvPr/>
          </p:nvSpPr>
          <p:spPr>
            <a:xfrm>
              <a:off x="7053320" y="3187207"/>
              <a:ext cx="298800" cy="258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21" name="Google Shape;426;p46">
              <a:extLst>
                <a:ext uri="{FF2B5EF4-FFF2-40B4-BE49-F238E27FC236}">
                  <a16:creationId xmlns:a16="http://schemas.microsoft.com/office/drawing/2014/main" id="{DD2B5799-159C-1AB1-E631-7B6D0233C95D}"/>
                </a:ext>
              </a:extLst>
            </p:cNvPr>
            <p:cNvSpPr txBox="1"/>
            <p:nvPr/>
          </p:nvSpPr>
          <p:spPr>
            <a:xfrm flipH="1">
              <a:off x="2791060" y="3706207"/>
              <a:ext cx="1812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rPr>
                <a:t>Peak extraction from xml file</a:t>
              </a:r>
              <a:endParaRPr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22" name="Google Shape;445;p46">
              <a:extLst>
                <a:ext uri="{FF2B5EF4-FFF2-40B4-BE49-F238E27FC236}">
                  <a16:creationId xmlns:a16="http://schemas.microsoft.com/office/drawing/2014/main" id="{43E8ED35-BC66-545C-725A-20E29A0D2273}"/>
                </a:ext>
              </a:extLst>
            </p:cNvPr>
            <p:cNvSpPr txBox="1"/>
            <p:nvPr/>
          </p:nvSpPr>
          <p:spPr>
            <a:xfrm flipH="1">
              <a:off x="2759700" y="4171045"/>
              <a:ext cx="18123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Saved as a module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Scan number given in command-line</a:t>
              </a:r>
              <a:endParaRPr sz="1200" dirty="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23" name="Google Shape;426;p46">
              <a:extLst>
                <a:ext uri="{FF2B5EF4-FFF2-40B4-BE49-F238E27FC236}">
                  <a16:creationId xmlns:a16="http://schemas.microsoft.com/office/drawing/2014/main" id="{0FA206E9-1840-37F8-F2D5-ACD927EF03E6}"/>
                </a:ext>
              </a:extLst>
            </p:cNvPr>
            <p:cNvSpPr txBox="1"/>
            <p:nvPr/>
          </p:nvSpPr>
          <p:spPr>
            <a:xfrm flipH="1">
              <a:off x="4540640" y="3706207"/>
              <a:ext cx="1812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rPr>
                <a:t>Match b and y ions to spectrum peaks</a:t>
              </a:r>
              <a:endParaRPr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24" name="Google Shape;445;p46">
              <a:extLst>
                <a:ext uri="{FF2B5EF4-FFF2-40B4-BE49-F238E27FC236}">
                  <a16:creationId xmlns:a16="http://schemas.microsoft.com/office/drawing/2014/main" id="{883F8764-9BD8-CEF6-13BF-27DCB819BA50}"/>
                </a:ext>
              </a:extLst>
            </p:cNvPr>
            <p:cNvSpPr txBox="1"/>
            <p:nvPr/>
          </p:nvSpPr>
          <p:spPr>
            <a:xfrm flipH="1">
              <a:off x="4588416" y="4169023"/>
              <a:ext cx="18123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Intensity threshold and tolerance for correct matching</a:t>
              </a:r>
            </a:p>
          </p:txBody>
        </p:sp>
        <p:sp>
          <p:nvSpPr>
            <p:cNvPr id="26" name="Google Shape;426;p46">
              <a:extLst>
                <a:ext uri="{FF2B5EF4-FFF2-40B4-BE49-F238E27FC236}">
                  <a16:creationId xmlns:a16="http://schemas.microsoft.com/office/drawing/2014/main" id="{B0A5D924-7945-8FF4-64D1-A34972813983}"/>
                </a:ext>
              </a:extLst>
            </p:cNvPr>
            <p:cNvSpPr txBox="1"/>
            <p:nvPr/>
          </p:nvSpPr>
          <p:spPr>
            <a:xfrm flipH="1">
              <a:off x="6290220" y="3706207"/>
              <a:ext cx="1812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rPr>
                <a:t>Generate stem plot for visualization  </a:t>
              </a:r>
              <a:endParaRPr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27" name="Google Shape;445;p46">
              <a:extLst>
                <a:ext uri="{FF2B5EF4-FFF2-40B4-BE49-F238E27FC236}">
                  <a16:creationId xmlns:a16="http://schemas.microsoft.com/office/drawing/2014/main" id="{021DFE96-235C-109F-2128-0B6E3120771C}"/>
                </a:ext>
              </a:extLst>
            </p:cNvPr>
            <p:cNvSpPr txBox="1"/>
            <p:nvPr/>
          </p:nvSpPr>
          <p:spPr>
            <a:xfrm flipH="1">
              <a:off x="6290178" y="4169023"/>
              <a:ext cx="18123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L</a:t>
              </a:r>
              <a:r>
                <a:rPr lang="en" sz="1200" dirty="0" err="1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abels</a:t>
              </a: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 to matched peaks, legend, </a:t>
              </a:r>
              <a:r>
                <a:rPr lang="en" sz="1200" dirty="0" err="1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x&amp;y</a:t>
              </a: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 axes</a:t>
              </a:r>
            </a:p>
          </p:txBody>
        </p:sp>
      </p:grpSp>
      <p:sp>
        <p:nvSpPr>
          <p:cNvPr id="40" name="Title 1">
            <a:extLst>
              <a:ext uri="{FF2B5EF4-FFF2-40B4-BE49-F238E27FC236}">
                <a16:creationId xmlns:a16="http://schemas.microsoft.com/office/drawing/2014/main" id="{879E836D-8655-25CC-4AAB-221E3D191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17" y="228644"/>
            <a:ext cx="7704000" cy="564300"/>
          </a:xfrm>
        </p:spPr>
        <p:txBody>
          <a:bodyPr/>
          <a:lstStyle/>
          <a:p>
            <a:r>
              <a:rPr lang="en-US" sz="2400" dirty="0"/>
              <a:t>HOW WELL DID I MEET THE REQUIREMENTS?</a:t>
            </a:r>
          </a:p>
        </p:txBody>
      </p:sp>
    </p:spTree>
    <p:extLst>
      <p:ext uri="{BB962C8B-B14F-4D97-AF65-F5344CB8AC3E}">
        <p14:creationId xmlns:p14="http://schemas.microsoft.com/office/powerpoint/2010/main" val="2104491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3.58025E-6 L 0.00226 -0.59012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-2950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1" grpId="0"/>
      <p:bldP spid="441" grpId="1"/>
      <p:bldP spid="444" grpId="0"/>
      <p:bldP spid="444" grpId="1"/>
      <p:bldP spid="449" grpId="0" animBg="1"/>
      <p:bldP spid="449" grpId="1" animBg="1"/>
      <p:bldP spid="452" grpId="0" animBg="1"/>
      <p:bldP spid="452" grpId="1" animBg="1"/>
      <p:bldP spid="4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>
          <a:extLst>
            <a:ext uri="{FF2B5EF4-FFF2-40B4-BE49-F238E27FC236}">
              <a16:creationId xmlns:a16="http://schemas.microsoft.com/office/drawing/2014/main" id="{A16F898B-ADDB-ECDF-6D8B-26C61D4AB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CD732752-8F1A-8954-6DB9-8EAF17C178AC}"/>
              </a:ext>
            </a:extLst>
          </p:cNvPr>
          <p:cNvGrpSpPr/>
          <p:nvPr/>
        </p:nvGrpSpPr>
        <p:grpSpPr>
          <a:xfrm>
            <a:off x="1012545" y="156920"/>
            <a:ext cx="7100608" cy="1308396"/>
            <a:chOff x="1001912" y="3187207"/>
            <a:chExt cx="7100608" cy="1308396"/>
          </a:xfrm>
        </p:grpSpPr>
        <p:cxnSp>
          <p:nvCxnSpPr>
            <p:cNvPr id="428" name="Google Shape;428;p46">
              <a:extLst>
                <a:ext uri="{FF2B5EF4-FFF2-40B4-BE49-F238E27FC236}">
                  <a16:creationId xmlns:a16="http://schemas.microsoft.com/office/drawing/2014/main" id="{4C9EE55E-D783-F32C-F1A8-A99FB0870C7C}"/>
                </a:ext>
              </a:extLst>
            </p:cNvPr>
            <p:cNvCxnSpPr>
              <a:cxnSpLocks/>
              <a:stCxn id="21" idx="0"/>
              <a:endCxn id="23" idx="0"/>
            </p:cNvCxnSpPr>
            <p:nvPr/>
          </p:nvCxnSpPr>
          <p:spPr>
            <a:xfrm rot="5400000" flipH="1" flipV="1">
              <a:off x="4572000" y="2831417"/>
              <a:ext cx="12700" cy="1749580"/>
            </a:xfrm>
            <a:prstGeom prst="bentConnector3">
              <a:avLst>
                <a:gd name="adj1" fmla="val 3096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1" name="Google Shape;431;p46">
              <a:extLst>
                <a:ext uri="{FF2B5EF4-FFF2-40B4-BE49-F238E27FC236}">
                  <a16:creationId xmlns:a16="http://schemas.microsoft.com/office/drawing/2014/main" id="{854931CE-2A7B-38A8-6D4D-885F1DB7772B}"/>
                </a:ext>
              </a:extLst>
            </p:cNvPr>
            <p:cNvCxnSpPr>
              <a:cxnSpLocks/>
              <a:stCxn id="23" idx="0"/>
              <a:endCxn id="26" idx="0"/>
            </p:cNvCxnSpPr>
            <p:nvPr/>
          </p:nvCxnSpPr>
          <p:spPr>
            <a:xfrm rot="5400000" flipH="1" flipV="1">
              <a:off x="6321580" y="2831417"/>
              <a:ext cx="12700" cy="1749580"/>
            </a:xfrm>
            <a:prstGeom prst="bentConnector3">
              <a:avLst>
                <a:gd name="adj1" fmla="val 3096000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7" name="Google Shape;437;p46">
              <a:extLst>
                <a:ext uri="{FF2B5EF4-FFF2-40B4-BE49-F238E27FC236}">
                  <a16:creationId xmlns:a16="http://schemas.microsoft.com/office/drawing/2014/main" id="{C805D266-F769-6E52-B3B9-C03C01A4E455}"/>
                </a:ext>
              </a:extLst>
            </p:cNvPr>
            <p:cNvCxnSpPr>
              <a:cxnSpLocks/>
              <a:endCxn id="21" idx="0"/>
            </p:cNvCxnSpPr>
            <p:nvPr/>
          </p:nvCxnSpPr>
          <p:spPr>
            <a:xfrm flipV="1">
              <a:off x="1947672" y="3706207"/>
              <a:ext cx="1749538" cy="3518"/>
            </a:xfrm>
            <a:prstGeom prst="bentConnector4">
              <a:avLst>
                <a:gd name="adj1" fmla="val -462"/>
                <a:gd name="adj2" fmla="val 11276578"/>
              </a:avLst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26" name="Google Shape;426;p46">
              <a:extLst>
                <a:ext uri="{FF2B5EF4-FFF2-40B4-BE49-F238E27FC236}">
                  <a16:creationId xmlns:a16="http://schemas.microsoft.com/office/drawing/2014/main" id="{274B5753-A8EB-0A0A-CD82-9C17C34FED09}"/>
                </a:ext>
              </a:extLst>
            </p:cNvPr>
            <p:cNvSpPr txBox="1"/>
            <p:nvPr/>
          </p:nvSpPr>
          <p:spPr>
            <a:xfrm flipH="1">
              <a:off x="1041480" y="3706207"/>
              <a:ext cx="1812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rPr>
                <a:t>m/z calculation for b and y ions</a:t>
              </a:r>
              <a:endParaRPr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445" name="Google Shape;445;p46">
              <a:extLst>
                <a:ext uri="{FF2B5EF4-FFF2-40B4-BE49-F238E27FC236}">
                  <a16:creationId xmlns:a16="http://schemas.microsoft.com/office/drawing/2014/main" id="{317FEA9E-8DA4-7E5B-9F86-5C0C62EF4BA2}"/>
                </a:ext>
              </a:extLst>
            </p:cNvPr>
            <p:cNvSpPr txBox="1"/>
            <p:nvPr/>
          </p:nvSpPr>
          <p:spPr>
            <a:xfrm flipH="1">
              <a:off x="1001912" y="4175803"/>
              <a:ext cx="18123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Created a class and saved as a module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Peptide sequence given in command-line</a:t>
              </a:r>
              <a:endParaRPr sz="1200" dirty="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453" name="Google Shape;453;p46">
              <a:extLst>
                <a:ext uri="{FF2B5EF4-FFF2-40B4-BE49-F238E27FC236}">
                  <a16:creationId xmlns:a16="http://schemas.microsoft.com/office/drawing/2014/main" id="{A9ACC161-D14E-9BDD-1E09-AD9582A1D054}"/>
                </a:ext>
              </a:extLst>
            </p:cNvPr>
            <p:cNvSpPr/>
            <p:nvPr/>
          </p:nvSpPr>
          <p:spPr>
            <a:xfrm>
              <a:off x="1798272" y="3192356"/>
              <a:ext cx="298800" cy="258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454" name="Google Shape;454;p46">
              <a:extLst>
                <a:ext uri="{FF2B5EF4-FFF2-40B4-BE49-F238E27FC236}">
                  <a16:creationId xmlns:a16="http://schemas.microsoft.com/office/drawing/2014/main" id="{30F8AFD5-E1A5-E52F-5DDB-5BBA8865EBB1}"/>
                </a:ext>
              </a:extLst>
            </p:cNvPr>
            <p:cNvSpPr/>
            <p:nvPr/>
          </p:nvSpPr>
          <p:spPr>
            <a:xfrm>
              <a:off x="3547810" y="3192356"/>
              <a:ext cx="298800" cy="258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455" name="Google Shape;455;p46">
              <a:extLst>
                <a:ext uri="{FF2B5EF4-FFF2-40B4-BE49-F238E27FC236}">
                  <a16:creationId xmlns:a16="http://schemas.microsoft.com/office/drawing/2014/main" id="{F5D92C7C-3F88-7CDF-AD63-6BC3C108513D}"/>
                </a:ext>
              </a:extLst>
            </p:cNvPr>
            <p:cNvSpPr/>
            <p:nvPr/>
          </p:nvSpPr>
          <p:spPr>
            <a:xfrm>
              <a:off x="5305061" y="3192356"/>
              <a:ext cx="298800" cy="258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456" name="Google Shape;456;p46">
              <a:extLst>
                <a:ext uri="{FF2B5EF4-FFF2-40B4-BE49-F238E27FC236}">
                  <a16:creationId xmlns:a16="http://schemas.microsoft.com/office/drawing/2014/main" id="{B9112B6B-9448-05BA-D279-3A2FDC292B42}"/>
                </a:ext>
              </a:extLst>
            </p:cNvPr>
            <p:cNvSpPr/>
            <p:nvPr/>
          </p:nvSpPr>
          <p:spPr>
            <a:xfrm>
              <a:off x="7053320" y="3187207"/>
              <a:ext cx="298800" cy="2589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21" name="Google Shape;426;p46">
              <a:extLst>
                <a:ext uri="{FF2B5EF4-FFF2-40B4-BE49-F238E27FC236}">
                  <a16:creationId xmlns:a16="http://schemas.microsoft.com/office/drawing/2014/main" id="{DE6CDF49-B4CE-1A37-D842-7B75AEE3EB7F}"/>
                </a:ext>
              </a:extLst>
            </p:cNvPr>
            <p:cNvSpPr txBox="1"/>
            <p:nvPr/>
          </p:nvSpPr>
          <p:spPr>
            <a:xfrm flipH="1">
              <a:off x="2791060" y="3706207"/>
              <a:ext cx="1812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rPr>
                <a:t>Peak extraction from xml file</a:t>
              </a:r>
              <a:endParaRPr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22" name="Google Shape;445;p46">
              <a:extLst>
                <a:ext uri="{FF2B5EF4-FFF2-40B4-BE49-F238E27FC236}">
                  <a16:creationId xmlns:a16="http://schemas.microsoft.com/office/drawing/2014/main" id="{841C441F-6DB7-6885-AEF8-7398C2234196}"/>
                </a:ext>
              </a:extLst>
            </p:cNvPr>
            <p:cNvSpPr txBox="1"/>
            <p:nvPr/>
          </p:nvSpPr>
          <p:spPr>
            <a:xfrm flipH="1">
              <a:off x="2759700" y="4171045"/>
              <a:ext cx="18123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Saved as a module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Scan number given in command-line</a:t>
              </a:r>
              <a:endParaRPr sz="1200" dirty="0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23" name="Google Shape;426;p46">
              <a:extLst>
                <a:ext uri="{FF2B5EF4-FFF2-40B4-BE49-F238E27FC236}">
                  <a16:creationId xmlns:a16="http://schemas.microsoft.com/office/drawing/2014/main" id="{903819B5-A612-E95B-415D-F407BB5D5FA0}"/>
                </a:ext>
              </a:extLst>
            </p:cNvPr>
            <p:cNvSpPr txBox="1"/>
            <p:nvPr/>
          </p:nvSpPr>
          <p:spPr>
            <a:xfrm flipH="1">
              <a:off x="4540640" y="3706207"/>
              <a:ext cx="1812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rPr>
                <a:t>Match b and y ions to spectrum peaks</a:t>
              </a:r>
              <a:endParaRPr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24" name="Google Shape;445;p46">
              <a:extLst>
                <a:ext uri="{FF2B5EF4-FFF2-40B4-BE49-F238E27FC236}">
                  <a16:creationId xmlns:a16="http://schemas.microsoft.com/office/drawing/2014/main" id="{05D32B90-9F75-A8F8-F72F-1AD7AAA3E168}"/>
                </a:ext>
              </a:extLst>
            </p:cNvPr>
            <p:cNvSpPr txBox="1"/>
            <p:nvPr/>
          </p:nvSpPr>
          <p:spPr>
            <a:xfrm flipH="1">
              <a:off x="4588416" y="4169023"/>
              <a:ext cx="18123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Intensity threshold and tolerance for correct matching</a:t>
              </a:r>
            </a:p>
          </p:txBody>
        </p:sp>
        <p:sp>
          <p:nvSpPr>
            <p:cNvPr id="26" name="Google Shape;426;p46">
              <a:extLst>
                <a:ext uri="{FF2B5EF4-FFF2-40B4-BE49-F238E27FC236}">
                  <a16:creationId xmlns:a16="http://schemas.microsoft.com/office/drawing/2014/main" id="{318E4F06-B83A-AC32-4ADC-4D3EC04A766D}"/>
                </a:ext>
              </a:extLst>
            </p:cNvPr>
            <p:cNvSpPr txBox="1"/>
            <p:nvPr/>
          </p:nvSpPr>
          <p:spPr>
            <a:xfrm flipH="1">
              <a:off x="6290220" y="3706207"/>
              <a:ext cx="18123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dk1"/>
                  </a:solidFill>
                  <a:latin typeface="Figtree"/>
                  <a:ea typeface="Figtree"/>
                  <a:cs typeface="Figtree"/>
                  <a:sym typeface="Figtree"/>
                </a:rPr>
                <a:t>Generate stem plot for visualization  </a:t>
              </a:r>
              <a:endParaRPr b="1" dirty="0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endParaRPr>
            </a:p>
          </p:txBody>
        </p:sp>
        <p:sp>
          <p:nvSpPr>
            <p:cNvPr id="27" name="Google Shape;445;p46">
              <a:extLst>
                <a:ext uri="{FF2B5EF4-FFF2-40B4-BE49-F238E27FC236}">
                  <a16:creationId xmlns:a16="http://schemas.microsoft.com/office/drawing/2014/main" id="{4B8E6C99-DFF2-923F-477D-3679CF02DD9C}"/>
                </a:ext>
              </a:extLst>
            </p:cNvPr>
            <p:cNvSpPr txBox="1"/>
            <p:nvPr/>
          </p:nvSpPr>
          <p:spPr>
            <a:xfrm flipH="1">
              <a:off x="6290178" y="4169023"/>
              <a:ext cx="1812300" cy="319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L</a:t>
              </a:r>
              <a:r>
                <a:rPr lang="en" sz="1200" dirty="0" err="1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abels</a:t>
              </a: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 to matched peaks, legend, </a:t>
              </a:r>
              <a:r>
                <a:rPr lang="en" sz="1200" dirty="0" err="1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x&amp;y</a:t>
              </a:r>
              <a:r>
                <a:rPr lang="en" sz="1200" dirty="0">
                  <a:solidFill>
                    <a:schemeClr val="dk1"/>
                  </a:solidFill>
                  <a:latin typeface="Bai Jamjuree"/>
                  <a:ea typeface="Bai Jamjuree"/>
                  <a:cs typeface="Bai Jamjuree"/>
                  <a:sym typeface="Bai Jamjuree"/>
                </a:rPr>
                <a:t> axes</a:t>
              </a: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CB60D6-6DFF-2C75-173C-284E19A35348}"/>
              </a:ext>
            </a:extLst>
          </p:cNvPr>
          <p:cNvSpPr/>
          <p:nvPr/>
        </p:nvSpPr>
        <p:spPr>
          <a:xfrm>
            <a:off x="930093" y="2158409"/>
            <a:ext cx="2056339" cy="16693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 Ion m/z </a:t>
            </a:r>
          </a:p>
          <a:p>
            <a:pPr algn="ctr"/>
            <a:r>
              <a:rPr lang="en-US" dirty="0"/>
              <a:t>(N-terminus): [M+H</a:t>
            </a:r>
            <a:r>
              <a:rPr lang="en-US" baseline="30000" dirty="0"/>
              <a:t>+</a:t>
            </a:r>
            <a:r>
              <a:rPr lang="en-US" dirty="0"/>
              <a:t>]</a:t>
            </a:r>
            <a:r>
              <a:rPr lang="en-US" baseline="30000" dirty="0"/>
              <a:t>+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y Ion m/z </a:t>
            </a:r>
          </a:p>
          <a:p>
            <a:pPr algn="ctr"/>
            <a:r>
              <a:rPr lang="en-US" dirty="0"/>
              <a:t>(C-terminus):</a:t>
            </a:r>
          </a:p>
          <a:p>
            <a:pPr algn="ctr"/>
            <a:r>
              <a:rPr lang="en-US" dirty="0"/>
              <a:t>[M+H</a:t>
            </a:r>
            <a:r>
              <a:rPr lang="en-US" baseline="-25000" dirty="0"/>
              <a:t>2</a:t>
            </a:r>
            <a:r>
              <a:rPr lang="en-US" dirty="0"/>
              <a:t>O+H</a:t>
            </a:r>
            <a:r>
              <a:rPr lang="en-US" baseline="30000" dirty="0"/>
              <a:t>+</a:t>
            </a:r>
            <a:r>
              <a:rPr lang="en-US" dirty="0"/>
              <a:t>]+</a:t>
            </a:r>
          </a:p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17C679-4863-3977-1A51-8E13C9EE8377}"/>
              </a:ext>
            </a:extLst>
          </p:cNvPr>
          <p:cNvCxnSpPr/>
          <p:nvPr/>
        </p:nvCxnSpPr>
        <p:spPr>
          <a:xfrm>
            <a:off x="714911" y="4720855"/>
            <a:ext cx="248670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Bent-Up Arrow 4">
            <a:extLst>
              <a:ext uri="{FF2B5EF4-FFF2-40B4-BE49-F238E27FC236}">
                <a16:creationId xmlns:a16="http://schemas.microsoft.com/office/drawing/2014/main" id="{B36A6C29-C68E-2BE7-5232-43914A5F31EF}"/>
              </a:ext>
            </a:extLst>
          </p:cNvPr>
          <p:cNvSpPr/>
          <p:nvPr/>
        </p:nvSpPr>
        <p:spPr>
          <a:xfrm rot="16200000">
            <a:off x="500995" y="4451789"/>
            <a:ext cx="484969" cy="538130"/>
          </a:xfrm>
          <a:prstGeom prst="bentUpArrow">
            <a:avLst>
              <a:gd name="adj1" fmla="val 2193"/>
              <a:gd name="adj2" fmla="val 10965"/>
              <a:gd name="adj3" fmla="val 320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C47B7C-04A6-41D0-5170-943341DF4D44}"/>
              </a:ext>
            </a:extLst>
          </p:cNvPr>
          <p:cNvSpPr/>
          <p:nvPr/>
        </p:nvSpPr>
        <p:spPr>
          <a:xfrm>
            <a:off x="709339" y="4614527"/>
            <a:ext cx="220754" cy="231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5AEC13D-F811-FEF2-2DC7-7CD71AAAED8E}"/>
              </a:ext>
            </a:extLst>
          </p:cNvPr>
          <p:cNvSpPr/>
          <p:nvPr/>
        </p:nvSpPr>
        <p:spPr>
          <a:xfrm>
            <a:off x="1052113" y="4614527"/>
            <a:ext cx="220754" cy="231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CCFB5B8-0117-EAD3-27A6-DE6ACF43906D}"/>
              </a:ext>
            </a:extLst>
          </p:cNvPr>
          <p:cNvSpPr/>
          <p:nvPr/>
        </p:nvSpPr>
        <p:spPr>
          <a:xfrm>
            <a:off x="1394887" y="4614527"/>
            <a:ext cx="220754" cy="231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E0CA77-0995-079E-651D-A56638769E42}"/>
              </a:ext>
            </a:extLst>
          </p:cNvPr>
          <p:cNvSpPr/>
          <p:nvPr/>
        </p:nvSpPr>
        <p:spPr>
          <a:xfrm>
            <a:off x="1734722" y="4614527"/>
            <a:ext cx="220754" cy="231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829220-6117-4A6D-E2FA-F9DD251FDBD2}"/>
              </a:ext>
            </a:extLst>
          </p:cNvPr>
          <p:cNvSpPr/>
          <p:nvPr/>
        </p:nvSpPr>
        <p:spPr>
          <a:xfrm>
            <a:off x="2074557" y="4614527"/>
            <a:ext cx="220754" cy="231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77AFCC-FD8A-D912-0C1B-8E2308A602C3}"/>
              </a:ext>
            </a:extLst>
          </p:cNvPr>
          <p:cNvSpPr/>
          <p:nvPr/>
        </p:nvSpPr>
        <p:spPr>
          <a:xfrm>
            <a:off x="2414392" y="4614527"/>
            <a:ext cx="220754" cy="231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2C92D75-2D29-F592-AAFF-C5B12D9D2FA9}"/>
              </a:ext>
            </a:extLst>
          </p:cNvPr>
          <p:cNvSpPr/>
          <p:nvPr/>
        </p:nvSpPr>
        <p:spPr>
          <a:xfrm>
            <a:off x="2754227" y="4614527"/>
            <a:ext cx="220754" cy="231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C0B9C38-E799-0109-DCF9-1DFFC158014E}"/>
              </a:ext>
            </a:extLst>
          </p:cNvPr>
          <p:cNvSpPr/>
          <p:nvPr/>
        </p:nvSpPr>
        <p:spPr>
          <a:xfrm>
            <a:off x="3099940" y="4614527"/>
            <a:ext cx="220754" cy="23169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362C43-4AC4-7B1E-5F8C-B9E07846A594}"/>
              </a:ext>
            </a:extLst>
          </p:cNvPr>
          <p:cNvSpPr txBox="1"/>
          <p:nvPr/>
        </p:nvSpPr>
        <p:spPr>
          <a:xfrm>
            <a:off x="638416" y="4213037"/>
            <a:ext cx="413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b1</a:t>
            </a:r>
          </a:p>
        </p:txBody>
      </p:sp>
      <p:sp>
        <p:nvSpPr>
          <p:cNvPr id="16" name="Bent-Up Arrow 15">
            <a:extLst>
              <a:ext uri="{FF2B5EF4-FFF2-40B4-BE49-F238E27FC236}">
                <a16:creationId xmlns:a16="http://schemas.microsoft.com/office/drawing/2014/main" id="{3BCA8E7B-6377-BB3E-EA84-8B8C0C11EC0B}"/>
              </a:ext>
            </a:extLst>
          </p:cNvPr>
          <p:cNvSpPr/>
          <p:nvPr/>
        </p:nvSpPr>
        <p:spPr>
          <a:xfrm rot="16200000" flipV="1">
            <a:off x="3060366" y="4451788"/>
            <a:ext cx="484969" cy="538132"/>
          </a:xfrm>
          <a:prstGeom prst="bentUpArrow">
            <a:avLst>
              <a:gd name="adj1" fmla="val 2193"/>
              <a:gd name="adj2" fmla="val 10965"/>
              <a:gd name="adj3" fmla="val 3201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5EF7365-5555-3A05-3A52-7C37AC1A29A1}"/>
              </a:ext>
            </a:extLst>
          </p:cNvPr>
          <p:cNvSpPr txBox="1"/>
          <p:nvPr/>
        </p:nvSpPr>
        <p:spPr>
          <a:xfrm>
            <a:off x="3003468" y="4218155"/>
            <a:ext cx="4136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y1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44E5CF7-10C6-B0C7-B82F-DF78A42AE786}"/>
              </a:ext>
            </a:extLst>
          </p:cNvPr>
          <p:cNvSpPr/>
          <p:nvPr/>
        </p:nvSpPr>
        <p:spPr>
          <a:xfrm>
            <a:off x="4429253" y="2130566"/>
            <a:ext cx="2056339" cy="166931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Intensity threshold: </a:t>
            </a:r>
          </a:p>
          <a:p>
            <a:pPr algn="ctr"/>
            <a:r>
              <a:rPr lang="en-US" dirty="0"/>
              <a:t>≥ 0.05 highest peak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Tolerance: 0.05 Da</a:t>
            </a:r>
          </a:p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A00FC3-CCA3-F114-6247-4518B9CA4D94}"/>
              </a:ext>
            </a:extLst>
          </p:cNvPr>
          <p:cNvSpPr txBox="1"/>
          <p:nvPr/>
        </p:nvSpPr>
        <p:spPr>
          <a:xfrm>
            <a:off x="4613993" y="3276658"/>
            <a:ext cx="17214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WHY IMPORTANT?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A819BC1-7A75-CFEC-96D9-C0D12A136DED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1955476" y="1941713"/>
            <a:ext cx="2787" cy="216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C01DCEB-F319-0CE7-AF87-844441FAC8EF}"/>
              </a:ext>
            </a:extLst>
          </p:cNvPr>
          <p:cNvCxnSpPr/>
          <p:nvPr/>
        </p:nvCxnSpPr>
        <p:spPr>
          <a:xfrm flipH="1" flipV="1">
            <a:off x="5477193" y="1901399"/>
            <a:ext cx="2787" cy="2166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5238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 shot of a graph&#10;&#10;Description automatically generated">
            <a:extLst>
              <a:ext uri="{FF2B5EF4-FFF2-40B4-BE49-F238E27FC236}">
                <a16:creationId xmlns:a16="http://schemas.microsoft.com/office/drawing/2014/main" id="{D7EE30D3-C87C-5E9D-ED2A-0291C86A61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5927" y="975537"/>
            <a:ext cx="7347857" cy="5143500"/>
          </a:xfrm>
          <a:prstGeom prst="rect">
            <a:avLst/>
          </a:prstGeom>
        </p:spPr>
      </p:pic>
      <p:pic>
        <p:nvPicPr>
          <p:cNvPr id="12" name="Picture 11" descr="A screen shot of a graph&#10;&#10;Description automatically generated">
            <a:extLst>
              <a:ext uri="{FF2B5EF4-FFF2-40B4-BE49-F238E27FC236}">
                <a16:creationId xmlns:a16="http://schemas.microsoft.com/office/drawing/2014/main" id="{C88E0BA9-F7DC-B887-A579-1A7C24B56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927" y="975537"/>
            <a:ext cx="7347857" cy="5143500"/>
          </a:xfrm>
          <a:prstGeom prst="rect">
            <a:avLst/>
          </a:prstGeom>
        </p:spPr>
      </p:pic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8A638DD-EAAF-2AD4-F5E5-FA048C837A1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61"/>
          <a:stretch/>
        </p:blipFill>
        <p:spPr>
          <a:xfrm>
            <a:off x="34725" y="1779348"/>
            <a:ext cx="5058085" cy="255440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0BC1E1-2D4A-2E29-BC9A-25D1706B9C53}"/>
              </a:ext>
            </a:extLst>
          </p:cNvPr>
          <p:cNvSpPr/>
          <p:nvPr/>
        </p:nvSpPr>
        <p:spPr>
          <a:xfrm>
            <a:off x="34725" y="3647570"/>
            <a:ext cx="4731488" cy="1482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510311-C148-2F0C-F32C-8FD499B18CE8}"/>
              </a:ext>
            </a:extLst>
          </p:cNvPr>
          <p:cNvSpPr txBox="1"/>
          <p:nvPr/>
        </p:nvSpPr>
        <p:spPr>
          <a:xfrm>
            <a:off x="194256" y="1281058"/>
            <a:ext cx="44124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not applying intensity threshold and tolerance…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347145-15C0-715B-CAAD-4B629D5716DE}"/>
              </a:ext>
            </a:extLst>
          </p:cNvPr>
          <p:cNvSpPr/>
          <p:nvPr/>
        </p:nvSpPr>
        <p:spPr>
          <a:xfrm>
            <a:off x="34725" y="2660599"/>
            <a:ext cx="4731488" cy="1482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A78461-0890-600C-F2C2-E92586A89BE0}"/>
              </a:ext>
            </a:extLst>
          </p:cNvPr>
          <p:cNvSpPr/>
          <p:nvPr/>
        </p:nvSpPr>
        <p:spPr>
          <a:xfrm>
            <a:off x="34725" y="2230229"/>
            <a:ext cx="4731488" cy="1482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ket 9">
            <a:extLst>
              <a:ext uri="{FF2B5EF4-FFF2-40B4-BE49-F238E27FC236}">
                <a16:creationId xmlns:a16="http://schemas.microsoft.com/office/drawing/2014/main" id="{6BA3D94B-F61C-539C-AA48-EED548C27C59}"/>
              </a:ext>
            </a:extLst>
          </p:cNvPr>
          <p:cNvSpPr/>
          <p:nvPr/>
        </p:nvSpPr>
        <p:spPr>
          <a:xfrm rot="10800000">
            <a:off x="4638624" y="2966484"/>
            <a:ext cx="393404" cy="1201478"/>
          </a:xfrm>
          <a:prstGeom prst="leftBracket">
            <a:avLst/>
          </a:prstGeom>
          <a:ln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BCAD571-5A55-0701-6AE6-5A87A6E56D7F}"/>
              </a:ext>
            </a:extLst>
          </p:cNvPr>
          <p:cNvCxnSpPr>
            <a:cxnSpLocks/>
          </p:cNvCxnSpPr>
          <p:nvPr/>
        </p:nvCxnSpPr>
        <p:spPr>
          <a:xfrm>
            <a:off x="5694744" y="3530278"/>
            <a:ext cx="29746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8F9A2A3-03EE-E0AF-40D2-07F02279B997}"/>
              </a:ext>
            </a:extLst>
          </p:cNvPr>
          <p:cNvSpPr txBox="1"/>
          <p:nvPr/>
        </p:nvSpPr>
        <p:spPr>
          <a:xfrm>
            <a:off x="5090635" y="3277854"/>
            <a:ext cx="1030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Below 5%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EAE171A-9EA3-211E-6669-EA29B3DA34AC}"/>
              </a:ext>
            </a:extLst>
          </p:cNvPr>
          <p:cNvSpPr txBox="1"/>
          <p:nvPr/>
        </p:nvSpPr>
        <p:spPr>
          <a:xfrm>
            <a:off x="5213163" y="1272398"/>
            <a:ext cx="3937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</a:t>
            </a:r>
            <a:r>
              <a:rPr lang="en-US" b="1" dirty="0"/>
              <a:t>applying</a:t>
            </a:r>
            <a:r>
              <a:rPr lang="en-US" dirty="0"/>
              <a:t> intensity threshold and tolerance…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6DEB12-0724-AC71-746A-4E6075594383}"/>
              </a:ext>
            </a:extLst>
          </p:cNvPr>
          <p:cNvSpPr txBox="1"/>
          <p:nvPr/>
        </p:nvSpPr>
        <p:spPr>
          <a:xfrm>
            <a:off x="5971734" y="1667857"/>
            <a:ext cx="23032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Peak with a difference of 0.05Da or less?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1BCEB18-AAC9-0B89-6170-76BEBF60130A}"/>
              </a:ext>
            </a:extLst>
          </p:cNvPr>
          <p:cNvSpPr/>
          <p:nvPr/>
        </p:nvSpPr>
        <p:spPr>
          <a:xfrm>
            <a:off x="5890711" y="4167963"/>
            <a:ext cx="2894474" cy="82072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SENSITIVITY AND SPECIFICITY</a:t>
            </a:r>
          </a:p>
        </p:txBody>
      </p:sp>
    </p:spTree>
    <p:extLst>
      <p:ext uri="{BB962C8B-B14F-4D97-AF65-F5344CB8AC3E}">
        <p14:creationId xmlns:p14="http://schemas.microsoft.com/office/powerpoint/2010/main" val="2628078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9" grpId="0"/>
      <p:bldP spid="21" grpId="0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6"/>
          <p:cNvSpPr/>
          <p:nvPr/>
        </p:nvSpPr>
        <p:spPr>
          <a:xfrm>
            <a:off x="2116043" y="1538797"/>
            <a:ext cx="801300" cy="6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48" name="Google Shape;248;p36"/>
          <p:cNvSpPr/>
          <p:nvPr/>
        </p:nvSpPr>
        <p:spPr>
          <a:xfrm>
            <a:off x="5994517" y="1548562"/>
            <a:ext cx="801300" cy="6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249" name="Google Shape;249;p36"/>
          <p:cNvSpPr txBox="1">
            <a:spLocks noGrp="1"/>
          </p:cNvSpPr>
          <p:nvPr>
            <p:ph type="subTitle" idx="1"/>
          </p:nvPr>
        </p:nvSpPr>
        <p:spPr>
          <a:xfrm>
            <a:off x="1167486" y="2676189"/>
            <a:ext cx="2907600" cy="161082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24141"/>
                </a:solidFill>
              </a:rPr>
              <a:t>Monoisotopic monoprotonated mass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42414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24141"/>
                </a:solidFill>
              </a:rPr>
              <a:t>Only the 20 essential amino acid are considered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42414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424141"/>
                </a:solidFill>
              </a:rPr>
              <a:t>Not counting for PTMs (Phosphorylation, ubiquitination…)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42414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42414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rgbClr val="424141"/>
              </a:solidFill>
            </a:endParaRPr>
          </a:p>
        </p:txBody>
      </p:sp>
      <p:sp>
        <p:nvSpPr>
          <p:cNvPr id="250" name="Google Shape;250;p36"/>
          <p:cNvSpPr txBox="1">
            <a:spLocks noGrp="1"/>
          </p:cNvSpPr>
          <p:nvPr>
            <p:ph type="subTitle" idx="2"/>
          </p:nvPr>
        </p:nvSpPr>
        <p:spPr>
          <a:xfrm>
            <a:off x="4946800" y="2831325"/>
            <a:ext cx="3029714" cy="148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24141"/>
                </a:solidFill>
              </a:rPr>
              <a:t>Tolerance and and intensity threshold may be dependent on the spectrometer, sample and conditions selected</a:t>
            </a:r>
            <a:endParaRPr dirty="0">
              <a:solidFill>
                <a:srgbClr val="424141"/>
              </a:solidFill>
            </a:endParaRPr>
          </a:p>
        </p:txBody>
      </p:sp>
      <p:sp>
        <p:nvSpPr>
          <p:cNvPr id="251" name="Google Shape;251;p36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24141"/>
                </a:solidFill>
              </a:rPr>
              <a:t>SCIENTIFIC MODELING TRADE-OFFS</a:t>
            </a:r>
            <a:endParaRPr dirty="0">
              <a:solidFill>
                <a:srgbClr val="424141"/>
              </a:solidFill>
            </a:endParaRPr>
          </a:p>
        </p:txBody>
      </p:sp>
      <p:sp>
        <p:nvSpPr>
          <p:cNvPr id="252" name="Google Shape;252;p36"/>
          <p:cNvSpPr txBox="1">
            <a:spLocks noGrp="1"/>
          </p:cNvSpPr>
          <p:nvPr>
            <p:ph type="title" idx="3"/>
          </p:nvPr>
        </p:nvSpPr>
        <p:spPr>
          <a:xfrm>
            <a:off x="1048310" y="2240482"/>
            <a:ext cx="29121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24141"/>
                </a:solidFill>
              </a:rPr>
              <a:t>IONS COMPUTATION</a:t>
            </a:r>
            <a:endParaRPr dirty="0">
              <a:solidFill>
                <a:srgbClr val="424141"/>
              </a:solidFill>
            </a:endParaRPr>
          </a:p>
        </p:txBody>
      </p:sp>
      <p:sp>
        <p:nvSpPr>
          <p:cNvPr id="253" name="Google Shape;253;p36"/>
          <p:cNvSpPr txBox="1">
            <a:spLocks noGrp="1"/>
          </p:cNvSpPr>
          <p:nvPr>
            <p:ph type="title" idx="4"/>
          </p:nvPr>
        </p:nvSpPr>
        <p:spPr>
          <a:xfrm>
            <a:off x="4951450" y="2196115"/>
            <a:ext cx="28983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24141"/>
                </a:solidFill>
              </a:rPr>
              <a:t>ION-PEAK MATCHING</a:t>
            </a:r>
            <a:endParaRPr dirty="0">
              <a:solidFill>
                <a:srgbClr val="424141"/>
              </a:solidFill>
            </a:endParaRPr>
          </a:p>
        </p:txBody>
      </p:sp>
      <p:pic>
        <p:nvPicPr>
          <p:cNvPr id="265" name="Google Shape;26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8633" y="-431108"/>
            <a:ext cx="2333625" cy="1704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B52DB077-4BB3-E844-A0C6-76E63A384DD0}"/>
              </a:ext>
            </a:extLst>
          </p:cNvPr>
          <p:cNvGrpSpPr/>
          <p:nvPr/>
        </p:nvGrpSpPr>
        <p:grpSpPr>
          <a:xfrm>
            <a:off x="2326680" y="1716281"/>
            <a:ext cx="377729" cy="377500"/>
            <a:chOff x="2326680" y="1716281"/>
            <a:chExt cx="377729" cy="377500"/>
          </a:xfrm>
        </p:grpSpPr>
        <p:sp>
          <p:nvSpPr>
            <p:cNvPr id="4" name="Google Shape;281;p37">
              <a:extLst>
                <a:ext uri="{FF2B5EF4-FFF2-40B4-BE49-F238E27FC236}">
                  <a16:creationId xmlns:a16="http://schemas.microsoft.com/office/drawing/2014/main" id="{3FBE799F-4FC9-5C3C-73BA-29BE90251539}"/>
                </a:ext>
              </a:extLst>
            </p:cNvPr>
            <p:cNvSpPr/>
            <p:nvPr/>
          </p:nvSpPr>
          <p:spPr>
            <a:xfrm>
              <a:off x="2493261" y="1879415"/>
              <a:ext cx="44393" cy="44262"/>
            </a:xfrm>
            <a:custGeom>
              <a:avLst/>
              <a:gdLst/>
              <a:ahLst/>
              <a:cxnLst/>
              <a:rect l="l" t="t" r="r" b="b"/>
              <a:pathLst>
                <a:path w="51003" h="50853" extrusionOk="0">
                  <a:moveTo>
                    <a:pt x="25502" y="0"/>
                  </a:moveTo>
                  <a:cubicBezTo>
                    <a:pt x="11443" y="0"/>
                    <a:pt x="0" y="11443"/>
                    <a:pt x="0" y="25500"/>
                  </a:cubicBezTo>
                  <a:cubicBezTo>
                    <a:pt x="1373" y="59305"/>
                    <a:pt x="49565" y="59305"/>
                    <a:pt x="51003" y="25500"/>
                  </a:cubicBezTo>
                  <a:cubicBezTo>
                    <a:pt x="51003" y="11377"/>
                    <a:pt x="39560" y="0"/>
                    <a:pt x="255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82;p37">
              <a:extLst>
                <a:ext uri="{FF2B5EF4-FFF2-40B4-BE49-F238E27FC236}">
                  <a16:creationId xmlns:a16="http://schemas.microsoft.com/office/drawing/2014/main" id="{C04A8DC1-D0BF-0785-234F-41C35AECC2E1}"/>
                </a:ext>
              </a:extLst>
            </p:cNvPr>
            <p:cNvSpPr/>
            <p:nvPr/>
          </p:nvSpPr>
          <p:spPr>
            <a:xfrm>
              <a:off x="2426671" y="1817779"/>
              <a:ext cx="177611" cy="172596"/>
            </a:xfrm>
            <a:custGeom>
              <a:avLst/>
              <a:gdLst/>
              <a:ahLst/>
              <a:cxnLst/>
              <a:rect l="l" t="t" r="r" b="b"/>
              <a:pathLst>
                <a:path w="204057" h="198295" extrusionOk="0">
                  <a:moveTo>
                    <a:pt x="201725" y="117564"/>
                  </a:moveTo>
                  <a:cubicBezTo>
                    <a:pt x="212906" y="68197"/>
                    <a:pt x="182762" y="15954"/>
                    <a:pt x="135486" y="0"/>
                  </a:cubicBezTo>
                  <a:cubicBezTo>
                    <a:pt x="121166" y="26285"/>
                    <a:pt x="82783" y="26285"/>
                    <a:pt x="68463" y="0"/>
                  </a:cubicBezTo>
                  <a:cubicBezTo>
                    <a:pt x="28184" y="14058"/>
                    <a:pt x="1" y="52897"/>
                    <a:pt x="1" y="96313"/>
                  </a:cubicBezTo>
                  <a:cubicBezTo>
                    <a:pt x="-391" y="181773"/>
                    <a:pt x="101223" y="229635"/>
                    <a:pt x="166677" y="175103"/>
                  </a:cubicBezTo>
                  <a:cubicBezTo>
                    <a:pt x="151310" y="149211"/>
                    <a:pt x="171516" y="115798"/>
                    <a:pt x="201725" y="117564"/>
                  </a:cubicBezTo>
                  <a:lnTo>
                    <a:pt x="201725" y="117564"/>
                  </a:lnTo>
                  <a:close/>
                  <a:moveTo>
                    <a:pt x="102007" y="147249"/>
                  </a:moveTo>
                  <a:cubicBezTo>
                    <a:pt x="73890" y="147249"/>
                    <a:pt x="51004" y="124364"/>
                    <a:pt x="51004" y="96248"/>
                  </a:cubicBezTo>
                  <a:cubicBezTo>
                    <a:pt x="53816" y="28639"/>
                    <a:pt x="150133" y="28639"/>
                    <a:pt x="152945" y="96248"/>
                  </a:cubicBezTo>
                  <a:cubicBezTo>
                    <a:pt x="152945" y="124364"/>
                    <a:pt x="130124" y="147249"/>
                    <a:pt x="102007" y="1472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83;p37">
              <a:extLst>
                <a:ext uri="{FF2B5EF4-FFF2-40B4-BE49-F238E27FC236}">
                  <a16:creationId xmlns:a16="http://schemas.microsoft.com/office/drawing/2014/main" id="{D9B759DD-C1A3-1A6D-EDFE-E1586C7DD6FC}"/>
                </a:ext>
              </a:extLst>
            </p:cNvPr>
            <p:cNvSpPr/>
            <p:nvPr/>
          </p:nvSpPr>
          <p:spPr>
            <a:xfrm>
              <a:off x="2326680" y="1716281"/>
              <a:ext cx="377729" cy="377500"/>
            </a:xfrm>
            <a:custGeom>
              <a:avLst/>
              <a:gdLst/>
              <a:ahLst/>
              <a:cxnLst/>
              <a:rect l="l" t="t" r="r" b="b"/>
              <a:pathLst>
                <a:path w="433972" h="433709" extrusionOk="0">
                  <a:moveTo>
                    <a:pt x="406252" y="111380"/>
                  </a:moveTo>
                  <a:cubicBezTo>
                    <a:pt x="375715" y="148192"/>
                    <a:pt x="316081" y="126157"/>
                    <a:pt x="316081" y="78883"/>
                  </a:cubicBezTo>
                  <a:cubicBezTo>
                    <a:pt x="316081" y="61556"/>
                    <a:pt x="324778" y="46256"/>
                    <a:pt x="338052" y="37036"/>
                  </a:cubicBezTo>
                  <a:cubicBezTo>
                    <a:pt x="300126" y="11405"/>
                    <a:pt x="255008" y="-1607"/>
                    <a:pt x="208582" y="159"/>
                  </a:cubicBezTo>
                  <a:cubicBezTo>
                    <a:pt x="43084" y="6436"/>
                    <a:pt x="-54215" y="189451"/>
                    <a:pt x="32164" y="329900"/>
                  </a:cubicBezTo>
                  <a:cubicBezTo>
                    <a:pt x="50996" y="305184"/>
                    <a:pt x="87025" y="303026"/>
                    <a:pt x="108734" y="324734"/>
                  </a:cubicBezTo>
                  <a:cubicBezTo>
                    <a:pt x="128612" y="344612"/>
                    <a:pt x="128612" y="376978"/>
                    <a:pt x="108734" y="396789"/>
                  </a:cubicBezTo>
                  <a:cubicBezTo>
                    <a:pt x="107099" y="398424"/>
                    <a:pt x="105399" y="399928"/>
                    <a:pt x="103568" y="401301"/>
                  </a:cubicBezTo>
                  <a:cubicBezTo>
                    <a:pt x="296268" y="515596"/>
                    <a:pt x="511593" y="305772"/>
                    <a:pt x="406252" y="111380"/>
                  </a:cubicBezTo>
                  <a:lnTo>
                    <a:pt x="406252" y="111380"/>
                  </a:lnTo>
                  <a:close/>
                  <a:moveTo>
                    <a:pt x="314577" y="310611"/>
                  </a:moveTo>
                  <a:cubicBezTo>
                    <a:pt x="309935" y="310611"/>
                    <a:pt x="305488" y="309761"/>
                    <a:pt x="301434" y="308257"/>
                  </a:cubicBezTo>
                  <a:cubicBezTo>
                    <a:pt x="220417" y="380966"/>
                    <a:pt x="89052" y="321922"/>
                    <a:pt x="89444" y="212924"/>
                  </a:cubicBezTo>
                  <a:cubicBezTo>
                    <a:pt x="89444" y="156889"/>
                    <a:pt x="126062" y="107588"/>
                    <a:pt x="179288" y="91110"/>
                  </a:cubicBezTo>
                  <a:cubicBezTo>
                    <a:pt x="187854" y="49786"/>
                    <a:pt x="245854" y="49852"/>
                    <a:pt x="254419" y="91110"/>
                  </a:cubicBezTo>
                  <a:cubicBezTo>
                    <a:pt x="318370" y="110007"/>
                    <a:pt x="357472" y="179708"/>
                    <a:pt x="340405" y="244244"/>
                  </a:cubicBezTo>
                  <a:cubicBezTo>
                    <a:pt x="365842" y="267456"/>
                    <a:pt x="349429" y="310480"/>
                    <a:pt x="314577" y="310611"/>
                  </a:cubicBezTo>
                  <a:lnTo>
                    <a:pt x="314577" y="31061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84;p37">
              <a:extLst>
                <a:ext uri="{FF2B5EF4-FFF2-40B4-BE49-F238E27FC236}">
                  <a16:creationId xmlns:a16="http://schemas.microsoft.com/office/drawing/2014/main" id="{9A7C7B21-382C-FBD5-980F-F2F4496C9109}"/>
                </a:ext>
              </a:extLst>
            </p:cNvPr>
            <p:cNvSpPr/>
            <p:nvPr/>
          </p:nvSpPr>
          <p:spPr>
            <a:xfrm>
              <a:off x="2504360" y="1790696"/>
              <a:ext cx="22196" cy="22131"/>
            </a:xfrm>
            <a:custGeom>
              <a:avLst/>
              <a:gdLst/>
              <a:ahLst/>
              <a:cxnLst/>
              <a:rect l="l" t="t" r="r" b="b"/>
              <a:pathLst>
                <a:path w="25501" h="25426" extrusionOk="0">
                  <a:moveTo>
                    <a:pt x="12751" y="25427"/>
                  </a:moveTo>
                  <a:cubicBezTo>
                    <a:pt x="19747" y="25427"/>
                    <a:pt x="25502" y="19738"/>
                    <a:pt x="25502" y="12677"/>
                  </a:cubicBezTo>
                  <a:cubicBezTo>
                    <a:pt x="24782" y="-4258"/>
                    <a:pt x="719" y="-4193"/>
                    <a:pt x="0" y="12677"/>
                  </a:cubicBezTo>
                  <a:cubicBezTo>
                    <a:pt x="0" y="19738"/>
                    <a:pt x="5689" y="25427"/>
                    <a:pt x="12751" y="2542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85;p37">
              <a:extLst>
                <a:ext uri="{FF2B5EF4-FFF2-40B4-BE49-F238E27FC236}">
                  <a16:creationId xmlns:a16="http://schemas.microsoft.com/office/drawing/2014/main" id="{92551257-0014-B413-F5AE-EFB160DFEE2A}"/>
                </a:ext>
              </a:extLst>
            </p:cNvPr>
            <p:cNvSpPr/>
            <p:nvPr/>
          </p:nvSpPr>
          <p:spPr>
            <a:xfrm>
              <a:off x="2589390" y="1942245"/>
              <a:ext cx="22196" cy="22131"/>
            </a:xfrm>
            <a:custGeom>
              <a:avLst/>
              <a:gdLst/>
              <a:ahLst/>
              <a:cxnLst/>
              <a:rect l="l" t="t" r="r" b="b"/>
              <a:pathLst>
                <a:path w="25501" h="25426" extrusionOk="0">
                  <a:moveTo>
                    <a:pt x="12751" y="0"/>
                  </a:moveTo>
                  <a:cubicBezTo>
                    <a:pt x="5754" y="0"/>
                    <a:pt x="0" y="5688"/>
                    <a:pt x="0" y="12750"/>
                  </a:cubicBezTo>
                  <a:cubicBezTo>
                    <a:pt x="719" y="29685"/>
                    <a:pt x="24783" y="29620"/>
                    <a:pt x="25502" y="12750"/>
                  </a:cubicBezTo>
                  <a:cubicBezTo>
                    <a:pt x="25502" y="5688"/>
                    <a:pt x="19747" y="0"/>
                    <a:pt x="127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86;p37">
              <a:extLst>
                <a:ext uri="{FF2B5EF4-FFF2-40B4-BE49-F238E27FC236}">
                  <a16:creationId xmlns:a16="http://schemas.microsoft.com/office/drawing/2014/main" id="{5DE7135C-74B7-733C-DA44-E831D6007FA0}"/>
                </a:ext>
              </a:extLst>
            </p:cNvPr>
            <p:cNvSpPr/>
            <p:nvPr/>
          </p:nvSpPr>
          <p:spPr>
            <a:xfrm>
              <a:off x="2367766" y="2008034"/>
              <a:ext cx="44473" cy="44448"/>
            </a:xfrm>
            <a:custGeom>
              <a:avLst/>
              <a:gdLst/>
              <a:ahLst/>
              <a:cxnLst/>
              <a:rect l="l" t="t" r="r" b="b"/>
              <a:pathLst>
                <a:path w="51095" h="51066" extrusionOk="0">
                  <a:moveTo>
                    <a:pt x="7454" y="7585"/>
                  </a:moveTo>
                  <a:cubicBezTo>
                    <a:pt x="-2485" y="17524"/>
                    <a:pt x="-2485" y="33674"/>
                    <a:pt x="7454" y="43613"/>
                  </a:cubicBezTo>
                  <a:cubicBezTo>
                    <a:pt x="17393" y="53552"/>
                    <a:pt x="33544" y="53552"/>
                    <a:pt x="43483" y="43613"/>
                  </a:cubicBezTo>
                  <a:cubicBezTo>
                    <a:pt x="66500" y="18766"/>
                    <a:pt x="32302" y="-15365"/>
                    <a:pt x="7454" y="75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87;p37">
              <a:extLst>
                <a:ext uri="{FF2B5EF4-FFF2-40B4-BE49-F238E27FC236}">
                  <a16:creationId xmlns:a16="http://schemas.microsoft.com/office/drawing/2014/main" id="{5533F177-9867-3F68-6393-C850C7045CEB}"/>
                </a:ext>
              </a:extLst>
            </p:cNvPr>
            <p:cNvSpPr/>
            <p:nvPr/>
          </p:nvSpPr>
          <p:spPr>
            <a:xfrm>
              <a:off x="2623937" y="1762873"/>
              <a:ext cx="44393" cy="44262"/>
            </a:xfrm>
            <a:custGeom>
              <a:avLst/>
              <a:gdLst/>
              <a:ahLst/>
              <a:cxnLst/>
              <a:rect l="l" t="t" r="r" b="b"/>
              <a:pathLst>
                <a:path w="51003" h="50853" extrusionOk="0">
                  <a:moveTo>
                    <a:pt x="25502" y="50854"/>
                  </a:moveTo>
                  <a:cubicBezTo>
                    <a:pt x="39560" y="50854"/>
                    <a:pt x="51003" y="39411"/>
                    <a:pt x="51003" y="25353"/>
                  </a:cubicBezTo>
                  <a:cubicBezTo>
                    <a:pt x="49630" y="-8451"/>
                    <a:pt x="1373" y="-8451"/>
                    <a:pt x="0" y="25353"/>
                  </a:cubicBezTo>
                  <a:cubicBezTo>
                    <a:pt x="0" y="39411"/>
                    <a:pt x="11443" y="50854"/>
                    <a:pt x="25502" y="50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Google Shape;288;p37">
            <a:extLst>
              <a:ext uri="{FF2B5EF4-FFF2-40B4-BE49-F238E27FC236}">
                <a16:creationId xmlns:a16="http://schemas.microsoft.com/office/drawing/2014/main" id="{0E9EA487-C1D5-46D5-F524-51DD3FB7CA4D}"/>
              </a:ext>
            </a:extLst>
          </p:cNvPr>
          <p:cNvSpPr/>
          <p:nvPr/>
        </p:nvSpPr>
        <p:spPr>
          <a:xfrm>
            <a:off x="6206439" y="1721087"/>
            <a:ext cx="377455" cy="377439"/>
          </a:xfrm>
          <a:custGeom>
            <a:avLst/>
            <a:gdLst/>
            <a:ahLst/>
            <a:cxnLst/>
            <a:rect l="l" t="t" r="r" b="b"/>
            <a:pathLst>
              <a:path w="433856" h="433838" extrusionOk="0">
                <a:moveTo>
                  <a:pt x="395472" y="280638"/>
                </a:moveTo>
                <a:cubicBezTo>
                  <a:pt x="389587" y="280638"/>
                  <a:pt x="383964" y="282011"/>
                  <a:pt x="378994" y="284365"/>
                </a:cubicBezTo>
                <a:lnTo>
                  <a:pt x="331718" y="237091"/>
                </a:lnTo>
                <a:lnTo>
                  <a:pt x="331718" y="196617"/>
                </a:lnTo>
                <a:lnTo>
                  <a:pt x="379060" y="149343"/>
                </a:lnTo>
                <a:cubicBezTo>
                  <a:pt x="403973" y="161570"/>
                  <a:pt x="434117" y="142673"/>
                  <a:pt x="433855" y="114819"/>
                </a:cubicBezTo>
                <a:cubicBezTo>
                  <a:pt x="434117" y="86965"/>
                  <a:pt x="403973" y="68068"/>
                  <a:pt x="379060" y="80295"/>
                </a:cubicBezTo>
                <a:lnTo>
                  <a:pt x="353558" y="54795"/>
                </a:lnTo>
                <a:cubicBezTo>
                  <a:pt x="365786" y="29883"/>
                  <a:pt x="346888" y="-260"/>
                  <a:pt x="319033" y="2"/>
                </a:cubicBezTo>
                <a:cubicBezTo>
                  <a:pt x="291177" y="-260"/>
                  <a:pt x="272280" y="29883"/>
                  <a:pt x="284508" y="54795"/>
                </a:cubicBezTo>
                <a:lnTo>
                  <a:pt x="237166" y="102134"/>
                </a:lnTo>
                <a:lnTo>
                  <a:pt x="196691" y="102134"/>
                </a:lnTo>
                <a:lnTo>
                  <a:pt x="149350" y="54795"/>
                </a:lnTo>
                <a:cubicBezTo>
                  <a:pt x="161577" y="29883"/>
                  <a:pt x="142680" y="-260"/>
                  <a:pt x="114824" y="2"/>
                </a:cubicBezTo>
                <a:cubicBezTo>
                  <a:pt x="86969" y="-260"/>
                  <a:pt x="68071" y="29883"/>
                  <a:pt x="80299" y="54795"/>
                </a:cubicBezTo>
                <a:lnTo>
                  <a:pt x="54798" y="80295"/>
                </a:lnTo>
                <a:cubicBezTo>
                  <a:pt x="29884" y="68068"/>
                  <a:pt x="-260" y="86965"/>
                  <a:pt x="2" y="114819"/>
                </a:cubicBezTo>
                <a:cubicBezTo>
                  <a:pt x="-260" y="142673"/>
                  <a:pt x="29884" y="161570"/>
                  <a:pt x="54798" y="149343"/>
                </a:cubicBezTo>
                <a:lnTo>
                  <a:pt x="102139" y="196682"/>
                </a:lnTo>
                <a:lnTo>
                  <a:pt x="102139" y="237156"/>
                </a:lnTo>
                <a:lnTo>
                  <a:pt x="54863" y="284495"/>
                </a:lnTo>
                <a:cubicBezTo>
                  <a:pt x="29950" y="272268"/>
                  <a:pt x="-194" y="291165"/>
                  <a:pt x="67" y="319019"/>
                </a:cubicBezTo>
                <a:cubicBezTo>
                  <a:pt x="-194" y="346874"/>
                  <a:pt x="29950" y="365770"/>
                  <a:pt x="54863" y="353543"/>
                </a:cubicBezTo>
                <a:lnTo>
                  <a:pt x="80365" y="379043"/>
                </a:lnTo>
                <a:cubicBezTo>
                  <a:pt x="68137" y="403955"/>
                  <a:pt x="87034" y="434098"/>
                  <a:pt x="114890" y="433837"/>
                </a:cubicBezTo>
                <a:cubicBezTo>
                  <a:pt x="142745" y="434098"/>
                  <a:pt x="161642" y="403955"/>
                  <a:pt x="149415" y="379043"/>
                </a:cubicBezTo>
                <a:lnTo>
                  <a:pt x="196691" y="331704"/>
                </a:lnTo>
                <a:lnTo>
                  <a:pt x="237166" y="331704"/>
                </a:lnTo>
                <a:lnTo>
                  <a:pt x="284508" y="378978"/>
                </a:lnTo>
                <a:cubicBezTo>
                  <a:pt x="272280" y="403890"/>
                  <a:pt x="291177" y="434033"/>
                  <a:pt x="319033" y="433771"/>
                </a:cubicBezTo>
                <a:cubicBezTo>
                  <a:pt x="346888" y="434033"/>
                  <a:pt x="365786" y="403890"/>
                  <a:pt x="353558" y="378978"/>
                </a:cubicBezTo>
                <a:lnTo>
                  <a:pt x="379060" y="353477"/>
                </a:lnTo>
                <a:cubicBezTo>
                  <a:pt x="403973" y="365705"/>
                  <a:pt x="434117" y="346808"/>
                  <a:pt x="433855" y="318954"/>
                </a:cubicBezTo>
                <a:cubicBezTo>
                  <a:pt x="433724" y="297769"/>
                  <a:pt x="416593" y="280638"/>
                  <a:pt x="395472" y="280638"/>
                </a:cubicBezTo>
                <a:close/>
                <a:moveTo>
                  <a:pt x="302882" y="73103"/>
                </a:moveTo>
                <a:cubicBezTo>
                  <a:pt x="312756" y="78072"/>
                  <a:pt x="326029" y="78072"/>
                  <a:pt x="335903" y="73103"/>
                </a:cubicBezTo>
                <a:lnTo>
                  <a:pt x="361470" y="98669"/>
                </a:lnTo>
                <a:cubicBezTo>
                  <a:pt x="356500" y="108542"/>
                  <a:pt x="356500" y="121815"/>
                  <a:pt x="361470" y="131689"/>
                </a:cubicBezTo>
                <a:lnTo>
                  <a:pt x="319425" y="173732"/>
                </a:lnTo>
                <a:cubicBezTo>
                  <a:pt x="310271" y="164578"/>
                  <a:pt x="270057" y="124365"/>
                  <a:pt x="260902" y="115211"/>
                </a:cubicBezTo>
                <a:lnTo>
                  <a:pt x="302882" y="73103"/>
                </a:lnTo>
                <a:close/>
                <a:moveTo>
                  <a:pt x="73106" y="131623"/>
                </a:moveTo>
                <a:cubicBezTo>
                  <a:pt x="78076" y="121750"/>
                  <a:pt x="78076" y="108477"/>
                  <a:pt x="73106" y="98603"/>
                </a:cubicBezTo>
                <a:lnTo>
                  <a:pt x="98673" y="73103"/>
                </a:lnTo>
                <a:cubicBezTo>
                  <a:pt x="108547" y="78072"/>
                  <a:pt x="121821" y="78072"/>
                  <a:pt x="131695" y="73103"/>
                </a:cubicBezTo>
                <a:lnTo>
                  <a:pt x="173739" y="115146"/>
                </a:lnTo>
                <a:lnTo>
                  <a:pt x="115217" y="173666"/>
                </a:lnTo>
                <a:lnTo>
                  <a:pt x="73106" y="131623"/>
                </a:lnTo>
                <a:close/>
                <a:moveTo>
                  <a:pt x="131629" y="361389"/>
                </a:moveTo>
                <a:cubicBezTo>
                  <a:pt x="121755" y="356420"/>
                  <a:pt x="108482" y="356420"/>
                  <a:pt x="98608" y="361389"/>
                </a:cubicBezTo>
                <a:lnTo>
                  <a:pt x="73041" y="335823"/>
                </a:lnTo>
                <a:cubicBezTo>
                  <a:pt x="78010" y="325950"/>
                  <a:pt x="78010" y="312677"/>
                  <a:pt x="73041" y="302803"/>
                </a:cubicBezTo>
                <a:lnTo>
                  <a:pt x="115086" y="260760"/>
                </a:lnTo>
                <a:lnTo>
                  <a:pt x="173608" y="319281"/>
                </a:lnTo>
                <a:lnTo>
                  <a:pt x="131629" y="361389"/>
                </a:lnTo>
                <a:close/>
                <a:moveTo>
                  <a:pt x="197410" y="307119"/>
                </a:moveTo>
                <a:cubicBezTo>
                  <a:pt x="188975" y="298684"/>
                  <a:pt x="136664" y="246375"/>
                  <a:pt x="128229" y="237941"/>
                </a:cubicBezTo>
                <a:lnTo>
                  <a:pt x="128229" y="197402"/>
                </a:lnTo>
                <a:lnTo>
                  <a:pt x="197410" y="128223"/>
                </a:lnTo>
                <a:lnTo>
                  <a:pt x="237951" y="128223"/>
                </a:lnTo>
                <a:cubicBezTo>
                  <a:pt x="246386" y="136658"/>
                  <a:pt x="298697" y="188967"/>
                  <a:pt x="307132" y="197402"/>
                </a:cubicBezTo>
                <a:lnTo>
                  <a:pt x="307132" y="237941"/>
                </a:lnTo>
                <a:lnTo>
                  <a:pt x="237951" y="307119"/>
                </a:lnTo>
                <a:lnTo>
                  <a:pt x="197410" y="307119"/>
                </a:lnTo>
                <a:close/>
                <a:moveTo>
                  <a:pt x="361405" y="335823"/>
                </a:moveTo>
                <a:lnTo>
                  <a:pt x="335903" y="361324"/>
                </a:lnTo>
                <a:cubicBezTo>
                  <a:pt x="326029" y="356355"/>
                  <a:pt x="312756" y="356355"/>
                  <a:pt x="302882" y="361324"/>
                </a:cubicBezTo>
                <a:lnTo>
                  <a:pt x="260837" y="319281"/>
                </a:lnTo>
                <a:lnTo>
                  <a:pt x="319360" y="260760"/>
                </a:lnTo>
                <a:lnTo>
                  <a:pt x="361405" y="302803"/>
                </a:lnTo>
                <a:cubicBezTo>
                  <a:pt x="356435" y="312742"/>
                  <a:pt x="356435" y="325950"/>
                  <a:pt x="361405" y="335823"/>
                </a:cubicBezTo>
                <a:lnTo>
                  <a:pt x="361405" y="335823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 build="p"/>
      <p:bldP spid="250" grpId="0" build="p"/>
      <p:bldP spid="252" grpId="0"/>
      <p:bldP spid="2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TESTS FOR CORRECTNESS</a:t>
            </a:r>
            <a:endParaRPr dirty="0"/>
          </a:p>
        </p:txBody>
      </p:sp>
      <p:sp>
        <p:nvSpPr>
          <p:cNvPr id="300" name="Google Shape;300;p38"/>
          <p:cNvSpPr txBox="1">
            <a:spLocks noGrp="1"/>
          </p:cNvSpPr>
          <p:nvPr>
            <p:ph type="title" idx="2"/>
          </p:nvPr>
        </p:nvSpPr>
        <p:spPr>
          <a:xfrm>
            <a:off x="1619149" y="2128386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MANUAL CHECK</a:t>
            </a:r>
            <a:endParaRPr sz="1600" dirty="0"/>
          </a:p>
        </p:txBody>
      </p:sp>
      <p:sp>
        <p:nvSpPr>
          <p:cNvPr id="304" name="Google Shape;304;p38"/>
          <p:cNvSpPr txBox="1">
            <a:spLocks noGrp="1"/>
          </p:cNvSpPr>
          <p:nvPr>
            <p:ph type="title" idx="5"/>
          </p:nvPr>
        </p:nvSpPr>
        <p:spPr>
          <a:xfrm>
            <a:off x="1619149" y="3768040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ION CALCULATOR</a:t>
            </a:r>
            <a:endParaRPr sz="1600" dirty="0"/>
          </a:p>
        </p:txBody>
      </p:sp>
      <p:sp>
        <p:nvSpPr>
          <p:cNvPr id="305" name="Google Shape;305;p38"/>
          <p:cNvSpPr txBox="1">
            <a:spLocks noGrp="1"/>
          </p:cNvSpPr>
          <p:nvPr>
            <p:ph type="subTitle" idx="6"/>
          </p:nvPr>
        </p:nvSpPr>
        <p:spPr>
          <a:xfrm>
            <a:off x="1619174" y="4166550"/>
            <a:ext cx="2675034" cy="8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proteomicsToolkit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http://db.systemsbiology.net/proteomicsToolkit/FragIonServlet.html</a:t>
            </a:r>
            <a:r>
              <a:rPr lang="en-US" dirty="0"/>
              <a:t> 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2BD90E9-5858-CFE7-FA00-F7F79F7195B8}"/>
              </a:ext>
            </a:extLst>
          </p:cNvPr>
          <p:cNvGrpSpPr/>
          <p:nvPr/>
        </p:nvGrpSpPr>
        <p:grpSpPr>
          <a:xfrm>
            <a:off x="720024" y="3684800"/>
            <a:ext cx="801300" cy="694200"/>
            <a:chOff x="720024" y="3684800"/>
            <a:chExt cx="801300" cy="694200"/>
          </a:xfrm>
        </p:grpSpPr>
        <p:sp>
          <p:nvSpPr>
            <p:cNvPr id="309" name="Google Shape;309;p38"/>
            <p:cNvSpPr/>
            <p:nvPr/>
          </p:nvSpPr>
          <p:spPr>
            <a:xfrm>
              <a:off x="720024" y="3684800"/>
              <a:ext cx="801300" cy="6942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sp>
          <p:nvSpPr>
            <p:cNvPr id="324" name="Google Shape;324;p38"/>
            <p:cNvSpPr/>
            <p:nvPr/>
          </p:nvSpPr>
          <p:spPr>
            <a:xfrm>
              <a:off x="925280" y="3843052"/>
              <a:ext cx="377907" cy="377678"/>
            </a:xfrm>
            <a:custGeom>
              <a:avLst/>
              <a:gdLst/>
              <a:ahLst/>
              <a:cxnLst/>
              <a:rect l="l" t="t" r="r" b="b"/>
              <a:pathLst>
                <a:path w="434376" h="434113" extrusionOk="0">
                  <a:moveTo>
                    <a:pt x="395993" y="257098"/>
                  </a:moveTo>
                  <a:lnTo>
                    <a:pt x="395993" y="190012"/>
                  </a:lnTo>
                  <a:cubicBezTo>
                    <a:pt x="418030" y="184324"/>
                    <a:pt x="434311" y="164316"/>
                    <a:pt x="434311" y="140515"/>
                  </a:cubicBezTo>
                  <a:cubicBezTo>
                    <a:pt x="434442" y="96445"/>
                    <a:pt x="381150" y="73102"/>
                    <a:pt x="348979" y="102591"/>
                  </a:cubicBezTo>
                  <a:lnTo>
                    <a:pt x="267963" y="56298"/>
                  </a:lnTo>
                  <a:cubicBezTo>
                    <a:pt x="271167" y="26482"/>
                    <a:pt x="247169" y="-195"/>
                    <a:pt x="217156" y="1"/>
                  </a:cubicBezTo>
                  <a:cubicBezTo>
                    <a:pt x="187142" y="-195"/>
                    <a:pt x="163079" y="26482"/>
                    <a:pt x="166349" y="56298"/>
                  </a:cubicBezTo>
                  <a:lnTo>
                    <a:pt x="85332" y="102591"/>
                  </a:lnTo>
                  <a:cubicBezTo>
                    <a:pt x="53161" y="73102"/>
                    <a:pt x="-131" y="96445"/>
                    <a:pt x="0" y="140515"/>
                  </a:cubicBezTo>
                  <a:cubicBezTo>
                    <a:pt x="0" y="164250"/>
                    <a:pt x="16282" y="184324"/>
                    <a:pt x="38318" y="190012"/>
                  </a:cubicBezTo>
                  <a:lnTo>
                    <a:pt x="38318" y="257098"/>
                  </a:lnTo>
                  <a:cubicBezTo>
                    <a:pt x="16282" y="262787"/>
                    <a:pt x="0" y="282795"/>
                    <a:pt x="0" y="306595"/>
                  </a:cubicBezTo>
                  <a:cubicBezTo>
                    <a:pt x="-131" y="350666"/>
                    <a:pt x="53161" y="374008"/>
                    <a:pt x="85332" y="344519"/>
                  </a:cubicBezTo>
                  <a:lnTo>
                    <a:pt x="166676" y="391008"/>
                  </a:lnTo>
                  <a:cubicBezTo>
                    <a:pt x="176746" y="448483"/>
                    <a:pt x="257631" y="448483"/>
                    <a:pt x="267701" y="391008"/>
                  </a:cubicBezTo>
                  <a:lnTo>
                    <a:pt x="349045" y="344519"/>
                  </a:lnTo>
                  <a:cubicBezTo>
                    <a:pt x="381216" y="374008"/>
                    <a:pt x="434507" y="350666"/>
                    <a:pt x="434377" y="306595"/>
                  </a:cubicBezTo>
                  <a:cubicBezTo>
                    <a:pt x="434311" y="282795"/>
                    <a:pt x="418030" y="262787"/>
                    <a:pt x="395993" y="257098"/>
                  </a:cubicBezTo>
                  <a:lnTo>
                    <a:pt x="395993" y="257098"/>
                  </a:lnTo>
                  <a:close/>
                  <a:moveTo>
                    <a:pt x="63754" y="257033"/>
                  </a:moveTo>
                  <a:lnTo>
                    <a:pt x="63754" y="190012"/>
                  </a:lnTo>
                  <a:cubicBezTo>
                    <a:pt x="71928" y="187920"/>
                    <a:pt x="79317" y="183801"/>
                    <a:pt x="85332" y="178308"/>
                  </a:cubicBezTo>
                  <a:lnTo>
                    <a:pt x="166022" y="212897"/>
                  </a:lnTo>
                  <a:cubicBezTo>
                    <a:pt x="165760" y="216036"/>
                    <a:pt x="165760" y="219240"/>
                    <a:pt x="166087" y="222378"/>
                  </a:cubicBezTo>
                  <a:lnTo>
                    <a:pt x="85136" y="268606"/>
                  </a:lnTo>
                  <a:cubicBezTo>
                    <a:pt x="79186" y="263179"/>
                    <a:pt x="71862" y="259125"/>
                    <a:pt x="63754" y="257033"/>
                  </a:cubicBezTo>
                  <a:close/>
                  <a:moveTo>
                    <a:pt x="204470" y="333665"/>
                  </a:moveTo>
                  <a:cubicBezTo>
                    <a:pt x="188973" y="337654"/>
                    <a:pt x="176288" y="348834"/>
                    <a:pt x="170141" y="363350"/>
                  </a:cubicBezTo>
                  <a:lnTo>
                    <a:pt x="99587" y="323007"/>
                  </a:lnTo>
                  <a:cubicBezTo>
                    <a:pt x="103249" y="312742"/>
                    <a:pt x="103249" y="300188"/>
                    <a:pt x="99587" y="289922"/>
                  </a:cubicBezTo>
                  <a:lnTo>
                    <a:pt x="175503" y="246506"/>
                  </a:lnTo>
                  <a:cubicBezTo>
                    <a:pt x="182369" y="256248"/>
                    <a:pt x="192570" y="263441"/>
                    <a:pt x="204405" y="266514"/>
                  </a:cubicBezTo>
                  <a:lnTo>
                    <a:pt x="204405" y="333665"/>
                  </a:lnTo>
                  <a:close/>
                  <a:moveTo>
                    <a:pt x="204470" y="167716"/>
                  </a:moveTo>
                  <a:cubicBezTo>
                    <a:pt x="192177" y="170854"/>
                    <a:pt x="181715" y="178504"/>
                    <a:pt x="174849" y="188770"/>
                  </a:cubicBezTo>
                  <a:lnTo>
                    <a:pt x="99783" y="156600"/>
                  </a:lnTo>
                  <a:cubicBezTo>
                    <a:pt x="103249" y="146465"/>
                    <a:pt x="103183" y="134173"/>
                    <a:pt x="99587" y="124038"/>
                  </a:cubicBezTo>
                  <a:lnTo>
                    <a:pt x="175503" y="80622"/>
                  </a:lnTo>
                  <a:cubicBezTo>
                    <a:pt x="182369" y="90364"/>
                    <a:pt x="192570" y="97557"/>
                    <a:pt x="204405" y="100630"/>
                  </a:cubicBezTo>
                  <a:lnTo>
                    <a:pt x="204405" y="167716"/>
                  </a:lnTo>
                  <a:close/>
                  <a:moveTo>
                    <a:pt x="229907" y="100695"/>
                  </a:moveTo>
                  <a:cubicBezTo>
                    <a:pt x="241742" y="97622"/>
                    <a:pt x="251942" y="90364"/>
                    <a:pt x="258808" y="80687"/>
                  </a:cubicBezTo>
                  <a:lnTo>
                    <a:pt x="334724" y="124103"/>
                  </a:lnTo>
                  <a:cubicBezTo>
                    <a:pt x="331128" y="134173"/>
                    <a:pt x="331063" y="146465"/>
                    <a:pt x="334528" y="156666"/>
                  </a:cubicBezTo>
                  <a:lnTo>
                    <a:pt x="259462" y="188835"/>
                  </a:lnTo>
                  <a:cubicBezTo>
                    <a:pt x="252596" y="178570"/>
                    <a:pt x="242069" y="170985"/>
                    <a:pt x="229841" y="167781"/>
                  </a:cubicBezTo>
                  <a:lnTo>
                    <a:pt x="229841" y="100695"/>
                  </a:lnTo>
                  <a:close/>
                  <a:moveTo>
                    <a:pt x="334790" y="323007"/>
                  </a:moveTo>
                  <a:lnTo>
                    <a:pt x="264236" y="363350"/>
                  </a:lnTo>
                  <a:cubicBezTo>
                    <a:pt x="258089" y="348769"/>
                    <a:pt x="245404" y="337654"/>
                    <a:pt x="229907" y="333665"/>
                  </a:cubicBezTo>
                  <a:lnTo>
                    <a:pt x="229907" y="266644"/>
                  </a:lnTo>
                  <a:cubicBezTo>
                    <a:pt x="241742" y="263572"/>
                    <a:pt x="251942" y="256314"/>
                    <a:pt x="258808" y="246636"/>
                  </a:cubicBezTo>
                  <a:lnTo>
                    <a:pt x="334724" y="290053"/>
                  </a:lnTo>
                  <a:cubicBezTo>
                    <a:pt x="331128" y="300253"/>
                    <a:pt x="331128" y="312742"/>
                    <a:pt x="334790" y="323007"/>
                  </a:cubicBezTo>
                  <a:close/>
                  <a:moveTo>
                    <a:pt x="370623" y="257033"/>
                  </a:moveTo>
                  <a:cubicBezTo>
                    <a:pt x="362515" y="259125"/>
                    <a:pt x="355191" y="263179"/>
                    <a:pt x="349175" y="268606"/>
                  </a:cubicBezTo>
                  <a:lnTo>
                    <a:pt x="268224" y="222378"/>
                  </a:lnTo>
                  <a:cubicBezTo>
                    <a:pt x="268551" y="219305"/>
                    <a:pt x="268551" y="216036"/>
                    <a:pt x="268290" y="212897"/>
                  </a:cubicBezTo>
                  <a:lnTo>
                    <a:pt x="348979" y="178308"/>
                  </a:lnTo>
                  <a:cubicBezTo>
                    <a:pt x="355060" y="183801"/>
                    <a:pt x="362384" y="187920"/>
                    <a:pt x="370557" y="190012"/>
                  </a:cubicBezTo>
                  <a:lnTo>
                    <a:pt x="370623" y="257033"/>
                  </a:lnTo>
                  <a:lnTo>
                    <a:pt x="370623" y="2570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A81062C-D2E6-CDD3-48F6-CE4E4CE1E335}"/>
              </a:ext>
            </a:extLst>
          </p:cNvPr>
          <p:cNvGrpSpPr/>
          <p:nvPr/>
        </p:nvGrpSpPr>
        <p:grpSpPr>
          <a:xfrm>
            <a:off x="720024" y="2067375"/>
            <a:ext cx="801300" cy="694200"/>
            <a:chOff x="720024" y="2067375"/>
            <a:chExt cx="801300" cy="694200"/>
          </a:xfrm>
        </p:grpSpPr>
        <p:sp>
          <p:nvSpPr>
            <p:cNvPr id="308" name="Google Shape;308;p38"/>
            <p:cNvSpPr/>
            <p:nvPr/>
          </p:nvSpPr>
          <p:spPr>
            <a:xfrm>
              <a:off x="720024" y="2067375"/>
              <a:ext cx="801300" cy="6942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grpSp>
          <p:nvGrpSpPr>
            <p:cNvPr id="325" name="Google Shape;325;p38"/>
            <p:cNvGrpSpPr/>
            <p:nvPr/>
          </p:nvGrpSpPr>
          <p:grpSpPr>
            <a:xfrm>
              <a:off x="938131" y="2225669"/>
              <a:ext cx="365073" cy="377596"/>
              <a:chOff x="1843457" y="2530004"/>
              <a:chExt cx="419431" cy="433819"/>
            </a:xfrm>
          </p:grpSpPr>
          <p:sp>
            <p:nvSpPr>
              <p:cNvPr id="326" name="Google Shape;326;p38"/>
              <p:cNvSpPr/>
              <p:nvPr/>
            </p:nvSpPr>
            <p:spPr>
              <a:xfrm>
                <a:off x="1945202" y="2938388"/>
                <a:ext cx="204273" cy="25435"/>
              </a:xfrm>
              <a:custGeom>
                <a:avLst/>
                <a:gdLst/>
                <a:ahLst/>
                <a:cxnLst/>
                <a:rect l="l" t="t" r="r" b="b"/>
                <a:pathLst>
                  <a:path w="204273" h="25435" extrusionOk="0">
                    <a:moveTo>
                      <a:pt x="0" y="0"/>
                    </a:moveTo>
                    <a:lnTo>
                      <a:pt x="204274" y="0"/>
                    </a:lnTo>
                    <a:lnTo>
                      <a:pt x="204274" y="25435"/>
                    </a:lnTo>
                    <a:lnTo>
                      <a:pt x="0" y="254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38"/>
              <p:cNvSpPr/>
              <p:nvPr/>
            </p:nvSpPr>
            <p:spPr>
              <a:xfrm>
                <a:off x="1843457" y="2797677"/>
                <a:ext cx="408547" cy="115275"/>
              </a:xfrm>
              <a:custGeom>
                <a:avLst/>
                <a:gdLst/>
                <a:ahLst/>
                <a:cxnLst/>
                <a:rect l="l" t="t" r="r" b="b"/>
                <a:pathLst>
                  <a:path w="408547" h="115275" extrusionOk="0">
                    <a:moveTo>
                      <a:pt x="98279" y="115275"/>
                    </a:moveTo>
                    <a:lnTo>
                      <a:pt x="310269" y="115275"/>
                    </a:lnTo>
                    <a:cubicBezTo>
                      <a:pt x="364541" y="115275"/>
                      <a:pt x="408548" y="71271"/>
                      <a:pt x="408548" y="17000"/>
                    </a:cubicBezTo>
                    <a:lnTo>
                      <a:pt x="408548" y="0"/>
                    </a:lnTo>
                    <a:lnTo>
                      <a:pt x="0" y="0"/>
                    </a:lnTo>
                    <a:lnTo>
                      <a:pt x="0" y="17000"/>
                    </a:lnTo>
                    <a:cubicBezTo>
                      <a:pt x="0" y="71271"/>
                      <a:pt x="44007" y="115275"/>
                      <a:pt x="98279" y="11527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38"/>
              <p:cNvSpPr/>
              <p:nvPr/>
            </p:nvSpPr>
            <p:spPr>
              <a:xfrm>
                <a:off x="1843457" y="2721372"/>
                <a:ext cx="408547" cy="50870"/>
              </a:xfrm>
              <a:custGeom>
                <a:avLst/>
                <a:gdLst/>
                <a:ahLst/>
                <a:cxnLst/>
                <a:rect l="l" t="t" r="r" b="b"/>
                <a:pathLst>
                  <a:path w="408547" h="50870" extrusionOk="0">
                    <a:moveTo>
                      <a:pt x="0" y="50870"/>
                    </a:moveTo>
                    <a:lnTo>
                      <a:pt x="408548" y="50870"/>
                    </a:lnTo>
                    <a:cubicBezTo>
                      <a:pt x="408548" y="33151"/>
                      <a:pt x="408548" y="17720"/>
                      <a:pt x="408548" y="0"/>
                    </a:cubicBezTo>
                    <a:lnTo>
                      <a:pt x="0" y="0"/>
                    </a:lnTo>
                    <a:cubicBezTo>
                      <a:pt x="0" y="6277"/>
                      <a:pt x="0" y="45116"/>
                      <a:pt x="0" y="508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38"/>
              <p:cNvSpPr/>
              <p:nvPr/>
            </p:nvSpPr>
            <p:spPr>
              <a:xfrm>
                <a:off x="2105666" y="2530047"/>
                <a:ext cx="157222" cy="165955"/>
              </a:xfrm>
              <a:custGeom>
                <a:avLst/>
                <a:gdLst/>
                <a:ahLst/>
                <a:cxnLst/>
                <a:rect l="l" t="t" r="r" b="b"/>
                <a:pathLst>
                  <a:path w="157222" h="165955" extrusionOk="0">
                    <a:moveTo>
                      <a:pt x="139147" y="5760"/>
                    </a:moveTo>
                    <a:cubicBezTo>
                      <a:pt x="115542" y="-8821"/>
                      <a:pt x="85005" y="5760"/>
                      <a:pt x="81082" y="32895"/>
                    </a:cubicBezTo>
                    <a:cubicBezTo>
                      <a:pt x="77943" y="54538"/>
                      <a:pt x="69900" y="75134"/>
                      <a:pt x="56561" y="92462"/>
                    </a:cubicBezTo>
                    <a:lnTo>
                      <a:pt x="0" y="165955"/>
                    </a:lnTo>
                    <a:lnTo>
                      <a:pt x="86640" y="165955"/>
                    </a:lnTo>
                    <a:cubicBezTo>
                      <a:pt x="100437" y="136139"/>
                      <a:pt x="105799" y="98215"/>
                      <a:pt x="143136" y="68138"/>
                    </a:cubicBezTo>
                    <a:cubicBezTo>
                      <a:pt x="163733" y="51399"/>
                      <a:pt x="161183" y="19360"/>
                      <a:pt x="139147" y="5760"/>
                    </a:cubicBezTo>
                    <a:lnTo>
                      <a:pt x="139147" y="576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38"/>
              <p:cNvSpPr/>
              <p:nvPr/>
            </p:nvSpPr>
            <p:spPr>
              <a:xfrm>
                <a:off x="1983847" y="2619337"/>
                <a:ext cx="51068" cy="50903"/>
              </a:xfrm>
              <a:custGeom>
                <a:avLst/>
                <a:gdLst/>
                <a:ahLst/>
                <a:cxnLst/>
                <a:rect l="l" t="t" r="r" b="b"/>
                <a:pathLst>
                  <a:path w="51068" h="50903" extrusionOk="0">
                    <a:moveTo>
                      <a:pt x="25567" y="50903"/>
                    </a:moveTo>
                    <a:cubicBezTo>
                      <a:pt x="39691" y="50903"/>
                      <a:pt x="51068" y="39461"/>
                      <a:pt x="51068" y="25403"/>
                    </a:cubicBezTo>
                    <a:cubicBezTo>
                      <a:pt x="49695" y="-8468"/>
                      <a:pt x="1373" y="-8468"/>
                      <a:pt x="0" y="25403"/>
                    </a:cubicBezTo>
                    <a:cubicBezTo>
                      <a:pt x="65" y="39461"/>
                      <a:pt x="11443" y="50903"/>
                      <a:pt x="25567" y="5090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38"/>
              <p:cNvSpPr/>
              <p:nvPr/>
            </p:nvSpPr>
            <p:spPr>
              <a:xfrm>
                <a:off x="1869024" y="2530004"/>
                <a:ext cx="76570" cy="76419"/>
              </a:xfrm>
              <a:custGeom>
                <a:avLst/>
                <a:gdLst/>
                <a:ahLst/>
                <a:cxnLst/>
                <a:rect l="l" t="t" r="r" b="b"/>
                <a:pathLst>
                  <a:path w="76570" h="76419" extrusionOk="0">
                    <a:moveTo>
                      <a:pt x="38252" y="76420"/>
                    </a:moveTo>
                    <a:cubicBezTo>
                      <a:pt x="59373" y="76420"/>
                      <a:pt x="76570" y="59288"/>
                      <a:pt x="76570" y="38103"/>
                    </a:cubicBezTo>
                    <a:cubicBezTo>
                      <a:pt x="74543" y="-12701"/>
                      <a:pt x="2027" y="-12701"/>
                      <a:pt x="0" y="38103"/>
                    </a:cubicBezTo>
                    <a:cubicBezTo>
                      <a:pt x="0" y="59288"/>
                      <a:pt x="17132" y="76420"/>
                      <a:pt x="38252" y="7642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3F91C9F-6D03-E32C-8DFA-D6AEBF26F1BD}"/>
              </a:ext>
            </a:extLst>
          </p:cNvPr>
          <p:cNvSpPr/>
          <p:nvPr/>
        </p:nvSpPr>
        <p:spPr>
          <a:xfrm>
            <a:off x="720000" y="1238491"/>
            <a:ext cx="3574208" cy="474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IONS M/Z CHECK</a:t>
            </a:r>
          </a:p>
        </p:txBody>
      </p:sp>
      <p:pic>
        <p:nvPicPr>
          <p:cNvPr id="13" name="Picture 12" descr="A graph with numbers and letters&#10;&#10;Description automatically generated">
            <a:extLst>
              <a:ext uri="{FF2B5EF4-FFF2-40B4-BE49-F238E27FC236}">
                <a16:creationId xmlns:a16="http://schemas.microsoft.com/office/drawing/2014/main" id="{59D35DDE-EBFA-D14E-41BD-9329E7211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53" y="3070817"/>
            <a:ext cx="3085552" cy="1922147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  <p:pic>
        <p:nvPicPr>
          <p:cNvPr id="15" name="Picture 14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94085885-B8F0-1F40-EAFA-DC3E4DDE5D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7594" y="1475772"/>
            <a:ext cx="3085552" cy="2134912"/>
          </a:xfrm>
          <a:prstGeom prst="rect">
            <a:avLst/>
          </a:prstGeom>
          <a:ln>
            <a:solidFill>
              <a:schemeClr val="bg1">
                <a:lumMod val="10000"/>
              </a:schemeClr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0" grpId="0"/>
      <p:bldP spid="304" grpId="0"/>
      <p:bldP spid="305" grpId="0" build="p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91F9D0BB-5789-FCAA-1782-5E322C20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>
            <a:extLst>
              <a:ext uri="{FF2B5EF4-FFF2-40B4-BE49-F238E27FC236}">
                <a16:creationId xmlns:a16="http://schemas.microsoft.com/office/drawing/2014/main" id="{88481959-A0B7-A44D-8C7A-121613E012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TESTS FOR CORRECTNESS</a:t>
            </a:r>
            <a:endParaRPr dirty="0"/>
          </a:p>
        </p:txBody>
      </p:sp>
      <p:sp>
        <p:nvSpPr>
          <p:cNvPr id="300" name="Google Shape;300;p38">
            <a:extLst>
              <a:ext uri="{FF2B5EF4-FFF2-40B4-BE49-F238E27FC236}">
                <a16:creationId xmlns:a16="http://schemas.microsoft.com/office/drawing/2014/main" id="{140F745B-E2A5-8ACD-C01D-30872BAC3B9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619149" y="2148251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MANUAL CHECK</a:t>
            </a:r>
            <a:endParaRPr sz="1600" dirty="0"/>
          </a:p>
        </p:txBody>
      </p:sp>
      <p:sp>
        <p:nvSpPr>
          <p:cNvPr id="304" name="Google Shape;304;p38">
            <a:extLst>
              <a:ext uri="{FF2B5EF4-FFF2-40B4-BE49-F238E27FC236}">
                <a16:creationId xmlns:a16="http://schemas.microsoft.com/office/drawing/2014/main" id="{06D02D29-F98F-5991-24E9-875B8E354B11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xfrm>
            <a:off x="1619149" y="3756908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ION CALCULATOR</a:t>
            </a:r>
            <a:endParaRPr sz="1600" dirty="0"/>
          </a:p>
        </p:txBody>
      </p:sp>
      <p:sp>
        <p:nvSpPr>
          <p:cNvPr id="305" name="Google Shape;305;p38">
            <a:extLst>
              <a:ext uri="{FF2B5EF4-FFF2-40B4-BE49-F238E27FC236}">
                <a16:creationId xmlns:a16="http://schemas.microsoft.com/office/drawing/2014/main" id="{B23CC777-8B39-F40E-6200-CB53C0B80101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1619174" y="4166550"/>
            <a:ext cx="2675034" cy="87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proteomicsToolkit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hlinkClick r:id="rId3"/>
              </a:rPr>
              <a:t>http://db.systemsbiology.net/proteomicsToolkit/FragIonServlet.html</a:t>
            </a:r>
            <a:r>
              <a:rPr lang="en-US" dirty="0"/>
              <a:t> </a:t>
            </a:r>
          </a:p>
        </p:txBody>
      </p:sp>
      <p:sp>
        <p:nvSpPr>
          <p:cNvPr id="308" name="Google Shape;308;p38">
            <a:extLst>
              <a:ext uri="{FF2B5EF4-FFF2-40B4-BE49-F238E27FC236}">
                <a16:creationId xmlns:a16="http://schemas.microsoft.com/office/drawing/2014/main" id="{E781887A-BBF8-14CD-7B0A-2C75123ADBD6}"/>
              </a:ext>
            </a:extLst>
          </p:cNvPr>
          <p:cNvSpPr/>
          <p:nvPr/>
        </p:nvSpPr>
        <p:spPr>
          <a:xfrm>
            <a:off x="720024" y="2067375"/>
            <a:ext cx="801300" cy="6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309" name="Google Shape;309;p38">
            <a:extLst>
              <a:ext uri="{FF2B5EF4-FFF2-40B4-BE49-F238E27FC236}">
                <a16:creationId xmlns:a16="http://schemas.microsoft.com/office/drawing/2014/main" id="{D2F1D879-3A0C-2863-15C0-8FBF8E8BF930}"/>
              </a:ext>
            </a:extLst>
          </p:cNvPr>
          <p:cNvSpPr/>
          <p:nvPr/>
        </p:nvSpPr>
        <p:spPr>
          <a:xfrm>
            <a:off x="720024" y="3684800"/>
            <a:ext cx="801300" cy="694200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i Jamjuree"/>
              <a:ea typeface="Bai Jamjuree"/>
              <a:cs typeface="Bai Jamjuree"/>
              <a:sym typeface="Bai Jamjuree"/>
            </a:endParaRPr>
          </a:p>
        </p:txBody>
      </p:sp>
      <p:sp>
        <p:nvSpPr>
          <p:cNvPr id="324" name="Google Shape;324;p38">
            <a:extLst>
              <a:ext uri="{FF2B5EF4-FFF2-40B4-BE49-F238E27FC236}">
                <a16:creationId xmlns:a16="http://schemas.microsoft.com/office/drawing/2014/main" id="{9BCB8DAF-9AFC-134D-A485-4BFBAA6F1A90}"/>
              </a:ext>
            </a:extLst>
          </p:cNvPr>
          <p:cNvSpPr/>
          <p:nvPr/>
        </p:nvSpPr>
        <p:spPr>
          <a:xfrm>
            <a:off x="925280" y="3843052"/>
            <a:ext cx="377907" cy="377678"/>
          </a:xfrm>
          <a:custGeom>
            <a:avLst/>
            <a:gdLst/>
            <a:ahLst/>
            <a:cxnLst/>
            <a:rect l="l" t="t" r="r" b="b"/>
            <a:pathLst>
              <a:path w="434376" h="434113" extrusionOk="0">
                <a:moveTo>
                  <a:pt x="395993" y="257098"/>
                </a:moveTo>
                <a:lnTo>
                  <a:pt x="395993" y="190012"/>
                </a:lnTo>
                <a:cubicBezTo>
                  <a:pt x="418030" y="184324"/>
                  <a:pt x="434311" y="164316"/>
                  <a:pt x="434311" y="140515"/>
                </a:cubicBezTo>
                <a:cubicBezTo>
                  <a:pt x="434442" y="96445"/>
                  <a:pt x="381150" y="73102"/>
                  <a:pt x="348979" y="102591"/>
                </a:cubicBezTo>
                <a:lnTo>
                  <a:pt x="267963" y="56298"/>
                </a:lnTo>
                <a:cubicBezTo>
                  <a:pt x="271167" y="26482"/>
                  <a:pt x="247169" y="-195"/>
                  <a:pt x="217156" y="1"/>
                </a:cubicBezTo>
                <a:cubicBezTo>
                  <a:pt x="187142" y="-195"/>
                  <a:pt x="163079" y="26482"/>
                  <a:pt x="166349" y="56298"/>
                </a:cubicBezTo>
                <a:lnTo>
                  <a:pt x="85332" y="102591"/>
                </a:lnTo>
                <a:cubicBezTo>
                  <a:pt x="53161" y="73102"/>
                  <a:pt x="-131" y="96445"/>
                  <a:pt x="0" y="140515"/>
                </a:cubicBezTo>
                <a:cubicBezTo>
                  <a:pt x="0" y="164250"/>
                  <a:pt x="16282" y="184324"/>
                  <a:pt x="38318" y="190012"/>
                </a:cubicBezTo>
                <a:lnTo>
                  <a:pt x="38318" y="257098"/>
                </a:lnTo>
                <a:cubicBezTo>
                  <a:pt x="16282" y="262787"/>
                  <a:pt x="0" y="282795"/>
                  <a:pt x="0" y="306595"/>
                </a:cubicBezTo>
                <a:cubicBezTo>
                  <a:pt x="-131" y="350666"/>
                  <a:pt x="53161" y="374008"/>
                  <a:pt x="85332" y="344519"/>
                </a:cubicBezTo>
                <a:lnTo>
                  <a:pt x="166676" y="391008"/>
                </a:lnTo>
                <a:cubicBezTo>
                  <a:pt x="176746" y="448483"/>
                  <a:pt x="257631" y="448483"/>
                  <a:pt x="267701" y="391008"/>
                </a:cubicBezTo>
                <a:lnTo>
                  <a:pt x="349045" y="344519"/>
                </a:lnTo>
                <a:cubicBezTo>
                  <a:pt x="381216" y="374008"/>
                  <a:pt x="434507" y="350666"/>
                  <a:pt x="434377" y="306595"/>
                </a:cubicBezTo>
                <a:cubicBezTo>
                  <a:pt x="434311" y="282795"/>
                  <a:pt x="418030" y="262787"/>
                  <a:pt x="395993" y="257098"/>
                </a:cubicBezTo>
                <a:lnTo>
                  <a:pt x="395993" y="257098"/>
                </a:lnTo>
                <a:close/>
                <a:moveTo>
                  <a:pt x="63754" y="257033"/>
                </a:moveTo>
                <a:lnTo>
                  <a:pt x="63754" y="190012"/>
                </a:lnTo>
                <a:cubicBezTo>
                  <a:pt x="71928" y="187920"/>
                  <a:pt x="79317" y="183801"/>
                  <a:pt x="85332" y="178308"/>
                </a:cubicBezTo>
                <a:lnTo>
                  <a:pt x="166022" y="212897"/>
                </a:lnTo>
                <a:cubicBezTo>
                  <a:pt x="165760" y="216036"/>
                  <a:pt x="165760" y="219240"/>
                  <a:pt x="166087" y="222378"/>
                </a:cubicBezTo>
                <a:lnTo>
                  <a:pt x="85136" y="268606"/>
                </a:lnTo>
                <a:cubicBezTo>
                  <a:pt x="79186" y="263179"/>
                  <a:pt x="71862" y="259125"/>
                  <a:pt x="63754" y="257033"/>
                </a:cubicBezTo>
                <a:close/>
                <a:moveTo>
                  <a:pt x="204470" y="333665"/>
                </a:moveTo>
                <a:cubicBezTo>
                  <a:pt x="188973" y="337654"/>
                  <a:pt x="176288" y="348834"/>
                  <a:pt x="170141" y="363350"/>
                </a:cubicBezTo>
                <a:lnTo>
                  <a:pt x="99587" y="323007"/>
                </a:lnTo>
                <a:cubicBezTo>
                  <a:pt x="103249" y="312742"/>
                  <a:pt x="103249" y="300188"/>
                  <a:pt x="99587" y="289922"/>
                </a:cubicBezTo>
                <a:lnTo>
                  <a:pt x="175503" y="246506"/>
                </a:lnTo>
                <a:cubicBezTo>
                  <a:pt x="182369" y="256248"/>
                  <a:pt x="192570" y="263441"/>
                  <a:pt x="204405" y="266514"/>
                </a:cubicBezTo>
                <a:lnTo>
                  <a:pt x="204405" y="333665"/>
                </a:lnTo>
                <a:close/>
                <a:moveTo>
                  <a:pt x="204470" y="167716"/>
                </a:moveTo>
                <a:cubicBezTo>
                  <a:pt x="192177" y="170854"/>
                  <a:pt x="181715" y="178504"/>
                  <a:pt x="174849" y="188770"/>
                </a:cubicBezTo>
                <a:lnTo>
                  <a:pt x="99783" y="156600"/>
                </a:lnTo>
                <a:cubicBezTo>
                  <a:pt x="103249" y="146465"/>
                  <a:pt x="103183" y="134173"/>
                  <a:pt x="99587" y="124038"/>
                </a:cubicBezTo>
                <a:lnTo>
                  <a:pt x="175503" y="80622"/>
                </a:lnTo>
                <a:cubicBezTo>
                  <a:pt x="182369" y="90364"/>
                  <a:pt x="192570" y="97557"/>
                  <a:pt x="204405" y="100630"/>
                </a:cubicBezTo>
                <a:lnTo>
                  <a:pt x="204405" y="167716"/>
                </a:lnTo>
                <a:close/>
                <a:moveTo>
                  <a:pt x="229907" y="100695"/>
                </a:moveTo>
                <a:cubicBezTo>
                  <a:pt x="241742" y="97622"/>
                  <a:pt x="251942" y="90364"/>
                  <a:pt x="258808" y="80687"/>
                </a:cubicBezTo>
                <a:lnTo>
                  <a:pt x="334724" y="124103"/>
                </a:lnTo>
                <a:cubicBezTo>
                  <a:pt x="331128" y="134173"/>
                  <a:pt x="331063" y="146465"/>
                  <a:pt x="334528" y="156666"/>
                </a:cubicBezTo>
                <a:lnTo>
                  <a:pt x="259462" y="188835"/>
                </a:lnTo>
                <a:cubicBezTo>
                  <a:pt x="252596" y="178570"/>
                  <a:pt x="242069" y="170985"/>
                  <a:pt x="229841" y="167781"/>
                </a:cubicBezTo>
                <a:lnTo>
                  <a:pt x="229841" y="100695"/>
                </a:lnTo>
                <a:close/>
                <a:moveTo>
                  <a:pt x="334790" y="323007"/>
                </a:moveTo>
                <a:lnTo>
                  <a:pt x="264236" y="363350"/>
                </a:lnTo>
                <a:cubicBezTo>
                  <a:pt x="258089" y="348769"/>
                  <a:pt x="245404" y="337654"/>
                  <a:pt x="229907" y="333665"/>
                </a:cubicBezTo>
                <a:lnTo>
                  <a:pt x="229907" y="266644"/>
                </a:lnTo>
                <a:cubicBezTo>
                  <a:pt x="241742" y="263572"/>
                  <a:pt x="251942" y="256314"/>
                  <a:pt x="258808" y="246636"/>
                </a:cubicBezTo>
                <a:lnTo>
                  <a:pt x="334724" y="290053"/>
                </a:lnTo>
                <a:cubicBezTo>
                  <a:pt x="331128" y="300253"/>
                  <a:pt x="331128" y="312742"/>
                  <a:pt x="334790" y="323007"/>
                </a:cubicBezTo>
                <a:close/>
                <a:moveTo>
                  <a:pt x="370623" y="257033"/>
                </a:moveTo>
                <a:cubicBezTo>
                  <a:pt x="362515" y="259125"/>
                  <a:pt x="355191" y="263179"/>
                  <a:pt x="349175" y="268606"/>
                </a:cubicBezTo>
                <a:lnTo>
                  <a:pt x="268224" y="222378"/>
                </a:lnTo>
                <a:cubicBezTo>
                  <a:pt x="268551" y="219305"/>
                  <a:pt x="268551" y="216036"/>
                  <a:pt x="268290" y="212897"/>
                </a:cubicBezTo>
                <a:lnTo>
                  <a:pt x="348979" y="178308"/>
                </a:lnTo>
                <a:cubicBezTo>
                  <a:pt x="355060" y="183801"/>
                  <a:pt x="362384" y="187920"/>
                  <a:pt x="370557" y="190012"/>
                </a:cubicBezTo>
                <a:lnTo>
                  <a:pt x="370623" y="257033"/>
                </a:lnTo>
                <a:lnTo>
                  <a:pt x="370623" y="257033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5" name="Google Shape;325;p38">
            <a:extLst>
              <a:ext uri="{FF2B5EF4-FFF2-40B4-BE49-F238E27FC236}">
                <a16:creationId xmlns:a16="http://schemas.microsoft.com/office/drawing/2014/main" id="{FD4F6022-F835-034A-6C1D-1C0EC6EF4CA8}"/>
              </a:ext>
            </a:extLst>
          </p:cNvPr>
          <p:cNvGrpSpPr/>
          <p:nvPr/>
        </p:nvGrpSpPr>
        <p:grpSpPr>
          <a:xfrm>
            <a:off x="938131" y="2225669"/>
            <a:ext cx="365073" cy="377596"/>
            <a:chOff x="1843457" y="2530004"/>
            <a:chExt cx="419431" cy="433819"/>
          </a:xfrm>
        </p:grpSpPr>
        <p:sp>
          <p:nvSpPr>
            <p:cNvPr id="326" name="Google Shape;326;p38">
              <a:extLst>
                <a:ext uri="{FF2B5EF4-FFF2-40B4-BE49-F238E27FC236}">
                  <a16:creationId xmlns:a16="http://schemas.microsoft.com/office/drawing/2014/main" id="{C3D45AB3-331B-685D-F415-E1EA8D1AFC58}"/>
                </a:ext>
              </a:extLst>
            </p:cNvPr>
            <p:cNvSpPr/>
            <p:nvPr/>
          </p:nvSpPr>
          <p:spPr>
            <a:xfrm>
              <a:off x="1945202" y="2938388"/>
              <a:ext cx="204273" cy="25435"/>
            </a:xfrm>
            <a:custGeom>
              <a:avLst/>
              <a:gdLst/>
              <a:ahLst/>
              <a:cxnLst/>
              <a:rect l="l" t="t" r="r" b="b"/>
              <a:pathLst>
                <a:path w="204273" h="25435" extrusionOk="0">
                  <a:moveTo>
                    <a:pt x="0" y="0"/>
                  </a:moveTo>
                  <a:lnTo>
                    <a:pt x="204274" y="0"/>
                  </a:lnTo>
                  <a:lnTo>
                    <a:pt x="204274" y="25435"/>
                  </a:lnTo>
                  <a:lnTo>
                    <a:pt x="0" y="254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8">
              <a:extLst>
                <a:ext uri="{FF2B5EF4-FFF2-40B4-BE49-F238E27FC236}">
                  <a16:creationId xmlns:a16="http://schemas.microsoft.com/office/drawing/2014/main" id="{2B8CC9B2-72AB-67F0-D440-78534302B0E0}"/>
                </a:ext>
              </a:extLst>
            </p:cNvPr>
            <p:cNvSpPr/>
            <p:nvPr/>
          </p:nvSpPr>
          <p:spPr>
            <a:xfrm>
              <a:off x="1843457" y="2797677"/>
              <a:ext cx="408547" cy="115275"/>
            </a:xfrm>
            <a:custGeom>
              <a:avLst/>
              <a:gdLst/>
              <a:ahLst/>
              <a:cxnLst/>
              <a:rect l="l" t="t" r="r" b="b"/>
              <a:pathLst>
                <a:path w="408547" h="115275" extrusionOk="0">
                  <a:moveTo>
                    <a:pt x="98279" y="115275"/>
                  </a:moveTo>
                  <a:lnTo>
                    <a:pt x="310269" y="115275"/>
                  </a:lnTo>
                  <a:cubicBezTo>
                    <a:pt x="364541" y="115275"/>
                    <a:pt x="408548" y="71271"/>
                    <a:pt x="408548" y="17000"/>
                  </a:cubicBezTo>
                  <a:lnTo>
                    <a:pt x="408548" y="0"/>
                  </a:lnTo>
                  <a:lnTo>
                    <a:pt x="0" y="0"/>
                  </a:lnTo>
                  <a:lnTo>
                    <a:pt x="0" y="17000"/>
                  </a:lnTo>
                  <a:cubicBezTo>
                    <a:pt x="0" y="71271"/>
                    <a:pt x="44007" y="115275"/>
                    <a:pt x="98279" y="1152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8">
              <a:extLst>
                <a:ext uri="{FF2B5EF4-FFF2-40B4-BE49-F238E27FC236}">
                  <a16:creationId xmlns:a16="http://schemas.microsoft.com/office/drawing/2014/main" id="{B51CB19E-EF7E-2FB7-BAF0-CECF2333CA2E}"/>
                </a:ext>
              </a:extLst>
            </p:cNvPr>
            <p:cNvSpPr/>
            <p:nvPr/>
          </p:nvSpPr>
          <p:spPr>
            <a:xfrm>
              <a:off x="1843457" y="2721372"/>
              <a:ext cx="408547" cy="50870"/>
            </a:xfrm>
            <a:custGeom>
              <a:avLst/>
              <a:gdLst/>
              <a:ahLst/>
              <a:cxnLst/>
              <a:rect l="l" t="t" r="r" b="b"/>
              <a:pathLst>
                <a:path w="408547" h="50870" extrusionOk="0">
                  <a:moveTo>
                    <a:pt x="0" y="50870"/>
                  </a:moveTo>
                  <a:lnTo>
                    <a:pt x="408548" y="50870"/>
                  </a:lnTo>
                  <a:cubicBezTo>
                    <a:pt x="408548" y="33151"/>
                    <a:pt x="408548" y="17720"/>
                    <a:pt x="408548" y="0"/>
                  </a:cubicBezTo>
                  <a:lnTo>
                    <a:pt x="0" y="0"/>
                  </a:lnTo>
                  <a:cubicBezTo>
                    <a:pt x="0" y="6277"/>
                    <a:pt x="0" y="45116"/>
                    <a:pt x="0" y="508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8">
              <a:extLst>
                <a:ext uri="{FF2B5EF4-FFF2-40B4-BE49-F238E27FC236}">
                  <a16:creationId xmlns:a16="http://schemas.microsoft.com/office/drawing/2014/main" id="{D8ACE2F8-1BC2-EA08-0171-33ADE48C8AC7}"/>
                </a:ext>
              </a:extLst>
            </p:cNvPr>
            <p:cNvSpPr/>
            <p:nvPr/>
          </p:nvSpPr>
          <p:spPr>
            <a:xfrm>
              <a:off x="2105666" y="2530047"/>
              <a:ext cx="157222" cy="165955"/>
            </a:xfrm>
            <a:custGeom>
              <a:avLst/>
              <a:gdLst/>
              <a:ahLst/>
              <a:cxnLst/>
              <a:rect l="l" t="t" r="r" b="b"/>
              <a:pathLst>
                <a:path w="157222" h="165955" extrusionOk="0">
                  <a:moveTo>
                    <a:pt x="139147" y="5760"/>
                  </a:moveTo>
                  <a:cubicBezTo>
                    <a:pt x="115542" y="-8821"/>
                    <a:pt x="85005" y="5760"/>
                    <a:pt x="81082" y="32895"/>
                  </a:cubicBezTo>
                  <a:cubicBezTo>
                    <a:pt x="77943" y="54538"/>
                    <a:pt x="69900" y="75134"/>
                    <a:pt x="56561" y="92462"/>
                  </a:cubicBezTo>
                  <a:lnTo>
                    <a:pt x="0" y="165955"/>
                  </a:lnTo>
                  <a:lnTo>
                    <a:pt x="86640" y="165955"/>
                  </a:lnTo>
                  <a:cubicBezTo>
                    <a:pt x="100437" y="136139"/>
                    <a:pt x="105799" y="98215"/>
                    <a:pt x="143136" y="68138"/>
                  </a:cubicBezTo>
                  <a:cubicBezTo>
                    <a:pt x="163733" y="51399"/>
                    <a:pt x="161183" y="19360"/>
                    <a:pt x="139147" y="5760"/>
                  </a:cubicBezTo>
                  <a:lnTo>
                    <a:pt x="139147" y="576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8">
              <a:extLst>
                <a:ext uri="{FF2B5EF4-FFF2-40B4-BE49-F238E27FC236}">
                  <a16:creationId xmlns:a16="http://schemas.microsoft.com/office/drawing/2014/main" id="{E38816E0-48F0-8D8F-A345-245CA222D88E}"/>
                </a:ext>
              </a:extLst>
            </p:cNvPr>
            <p:cNvSpPr/>
            <p:nvPr/>
          </p:nvSpPr>
          <p:spPr>
            <a:xfrm>
              <a:off x="1983847" y="2619337"/>
              <a:ext cx="51068" cy="50903"/>
            </a:xfrm>
            <a:custGeom>
              <a:avLst/>
              <a:gdLst/>
              <a:ahLst/>
              <a:cxnLst/>
              <a:rect l="l" t="t" r="r" b="b"/>
              <a:pathLst>
                <a:path w="51068" h="50903" extrusionOk="0">
                  <a:moveTo>
                    <a:pt x="25567" y="50903"/>
                  </a:moveTo>
                  <a:cubicBezTo>
                    <a:pt x="39691" y="50903"/>
                    <a:pt x="51068" y="39461"/>
                    <a:pt x="51068" y="25403"/>
                  </a:cubicBezTo>
                  <a:cubicBezTo>
                    <a:pt x="49695" y="-8468"/>
                    <a:pt x="1373" y="-8468"/>
                    <a:pt x="0" y="25403"/>
                  </a:cubicBezTo>
                  <a:cubicBezTo>
                    <a:pt x="65" y="39461"/>
                    <a:pt x="11443" y="50903"/>
                    <a:pt x="25567" y="509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8">
              <a:extLst>
                <a:ext uri="{FF2B5EF4-FFF2-40B4-BE49-F238E27FC236}">
                  <a16:creationId xmlns:a16="http://schemas.microsoft.com/office/drawing/2014/main" id="{01312645-B43D-14FC-78AA-DF97CBC261F6}"/>
                </a:ext>
              </a:extLst>
            </p:cNvPr>
            <p:cNvSpPr/>
            <p:nvPr/>
          </p:nvSpPr>
          <p:spPr>
            <a:xfrm>
              <a:off x="1869024" y="2530004"/>
              <a:ext cx="76570" cy="76419"/>
            </a:xfrm>
            <a:custGeom>
              <a:avLst/>
              <a:gdLst/>
              <a:ahLst/>
              <a:cxnLst/>
              <a:rect l="l" t="t" r="r" b="b"/>
              <a:pathLst>
                <a:path w="76570" h="76419" extrusionOk="0">
                  <a:moveTo>
                    <a:pt x="38252" y="76420"/>
                  </a:moveTo>
                  <a:cubicBezTo>
                    <a:pt x="59373" y="76420"/>
                    <a:pt x="76570" y="59288"/>
                    <a:pt x="76570" y="38103"/>
                  </a:cubicBezTo>
                  <a:cubicBezTo>
                    <a:pt x="74543" y="-12701"/>
                    <a:pt x="2027" y="-12701"/>
                    <a:pt x="0" y="38103"/>
                  </a:cubicBezTo>
                  <a:cubicBezTo>
                    <a:pt x="0" y="59288"/>
                    <a:pt x="17132" y="76420"/>
                    <a:pt x="38252" y="7642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332180F-2875-F5D3-1CC4-CDBB29475215}"/>
              </a:ext>
            </a:extLst>
          </p:cNvPr>
          <p:cNvSpPr/>
          <p:nvPr/>
        </p:nvSpPr>
        <p:spPr>
          <a:xfrm>
            <a:off x="720000" y="1238491"/>
            <a:ext cx="3574208" cy="474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IONS M/Z CHECK</a:t>
            </a:r>
          </a:p>
        </p:txBody>
      </p:sp>
      <p:sp>
        <p:nvSpPr>
          <p:cNvPr id="3" name="Google Shape;302;p38">
            <a:extLst>
              <a:ext uri="{FF2B5EF4-FFF2-40B4-BE49-F238E27FC236}">
                <a16:creationId xmlns:a16="http://schemas.microsoft.com/office/drawing/2014/main" id="{89A38F17-2545-857E-2469-88B30F9F863A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5556876" y="2127860"/>
            <a:ext cx="3436637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COMMAND-LINE ARGUMENTS</a:t>
            </a:r>
            <a:endParaRPr sz="1600" dirty="0"/>
          </a:p>
        </p:txBody>
      </p:sp>
      <p:sp>
        <p:nvSpPr>
          <p:cNvPr id="4" name="Google Shape;303;p38">
            <a:extLst>
              <a:ext uri="{FF2B5EF4-FFF2-40B4-BE49-F238E27FC236}">
                <a16:creationId xmlns:a16="http://schemas.microsoft.com/office/drawing/2014/main" id="{9F48E025-0857-0713-94B2-995092E06BDD}"/>
              </a:ext>
            </a:extLst>
          </p:cNvPr>
          <p:cNvSpPr txBox="1">
            <a:spLocks/>
          </p:cNvSpPr>
          <p:nvPr/>
        </p:nvSpPr>
        <p:spPr>
          <a:xfrm>
            <a:off x="5556900" y="2547450"/>
            <a:ext cx="28671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/>
            <a:r>
              <a:rPr lang="en-US" dirty="0"/>
              <a:t>Scan number and peptide sequence</a:t>
            </a:r>
          </a:p>
        </p:txBody>
      </p:sp>
      <p:sp>
        <p:nvSpPr>
          <p:cNvPr id="5" name="Google Shape;306;p38">
            <a:extLst>
              <a:ext uri="{FF2B5EF4-FFF2-40B4-BE49-F238E27FC236}">
                <a16:creationId xmlns:a16="http://schemas.microsoft.com/office/drawing/2014/main" id="{38945EB6-52B0-1C7A-891E-4B8EC36D53F4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556876" y="3751743"/>
            <a:ext cx="28671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EXCEPTIONS</a:t>
            </a:r>
            <a:endParaRPr sz="1600" dirty="0"/>
          </a:p>
        </p:txBody>
      </p:sp>
      <p:sp>
        <p:nvSpPr>
          <p:cNvPr id="6" name="Google Shape;307;p38">
            <a:extLst>
              <a:ext uri="{FF2B5EF4-FFF2-40B4-BE49-F238E27FC236}">
                <a16:creationId xmlns:a16="http://schemas.microsoft.com/office/drawing/2014/main" id="{3703FB16-9E18-82A9-B1AE-32A590CFFA12}"/>
              </a:ext>
            </a:extLst>
          </p:cNvPr>
          <p:cNvSpPr txBox="1">
            <a:spLocks/>
          </p:cNvSpPr>
          <p:nvPr/>
        </p:nvSpPr>
        <p:spPr>
          <a:xfrm>
            <a:off x="5556900" y="4166550"/>
            <a:ext cx="2867100" cy="8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/>
            <a:r>
              <a:rPr lang="en-US" dirty="0"/>
              <a:t>Peptide sequence, file opening, scan number, name space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ADF3A80-6C94-38A2-42AB-6CA331353D0E}"/>
              </a:ext>
            </a:extLst>
          </p:cNvPr>
          <p:cNvGrpSpPr/>
          <p:nvPr/>
        </p:nvGrpSpPr>
        <p:grpSpPr>
          <a:xfrm>
            <a:off x="4678062" y="2067375"/>
            <a:ext cx="801300" cy="694200"/>
            <a:chOff x="4678062" y="2067375"/>
            <a:chExt cx="801300" cy="694200"/>
          </a:xfrm>
        </p:grpSpPr>
        <p:sp>
          <p:nvSpPr>
            <p:cNvPr id="7" name="Google Shape;310;p38">
              <a:extLst>
                <a:ext uri="{FF2B5EF4-FFF2-40B4-BE49-F238E27FC236}">
                  <a16:creationId xmlns:a16="http://schemas.microsoft.com/office/drawing/2014/main" id="{07C6C8BC-5223-E4F1-80F2-0423E9B80001}"/>
                </a:ext>
              </a:extLst>
            </p:cNvPr>
            <p:cNvSpPr/>
            <p:nvPr/>
          </p:nvSpPr>
          <p:spPr>
            <a:xfrm>
              <a:off x="4678062" y="2067375"/>
              <a:ext cx="801300" cy="6942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grpSp>
          <p:nvGrpSpPr>
            <p:cNvPr id="9" name="Google Shape;312;p38">
              <a:extLst>
                <a:ext uri="{FF2B5EF4-FFF2-40B4-BE49-F238E27FC236}">
                  <a16:creationId xmlns:a16="http://schemas.microsoft.com/office/drawing/2014/main" id="{3C6A6518-7A7E-58D6-231C-962A2AA95399}"/>
                </a:ext>
              </a:extLst>
            </p:cNvPr>
            <p:cNvGrpSpPr/>
            <p:nvPr/>
          </p:nvGrpSpPr>
          <p:grpSpPr>
            <a:xfrm>
              <a:off x="4945541" y="2225610"/>
              <a:ext cx="266359" cy="377724"/>
              <a:chOff x="2838083" y="2529922"/>
              <a:chExt cx="306019" cy="433966"/>
            </a:xfrm>
          </p:grpSpPr>
          <p:sp>
            <p:nvSpPr>
              <p:cNvPr id="10" name="Google Shape;313;p38">
                <a:extLst>
                  <a:ext uri="{FF2B5EF4-FFF2-40B4-BE49-F238E27FC236}">
                    <a16:creationId xmlns:a16="http://schemas.microsoft.com/office/drawing/2014/main" id="{2FC82E60-CF45-F160-7A99-7649C47E07A2}"/>
                  </a:ext>
                </a:extLst>
              </p:cNvPr>
              <p:cNvSpPr/>
              <p:nvPr/>
            </p:nvSpPr>
            <p:spPr>
              <a:xfrm>
                <a:off x="2838083" y="2657948"/>
                <a:ext cx="305953" cy="63555"/>
              </a:xfrm>
              <a:custGeom>
                <a:avLst/>
                <a:gdLst/>
                <a:ahLst/>
                <a:cxnLst/>
                <a:rect l="l" t="t" r="r" b="b"/>
                <a:pathLst>
                  <a:path w="305953" h="63555" extrusionOk="0">
                    <a:moveTo>
                      <a:pt x="260247" y="0"/>
                    </a:moveTo>
                    <a:lnTo>
                      <a:pt x="45707" y="0"/>
                    </a:lnTo>
                    <a:lnTo>
                      <a:pt x="0" y="45574"/>
                    </a:lnTo>
                    <a:lnTo>
                      <a:pt x="0" y="63555"/>
                    </a:lnTo>
                    <a:lnTo>
                      <a:pt x="305953" y="63555"/>
                    </a:lnTo>
                    <a:lnTo>
                      <a:pt x="305953" y="45574"/>
                    </a:lnTo>
                    <a:lnTo>
                      <a:pt x="26024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" name="Google Shape;314;p38">
                <a:extLst>
                  <a:ext uri="{FF2B5EF4-FFF2-40B4-BE49-F238E27FC236}">
                    <a16:creationId xmlns:a16="http://schemas.microsoft.com/office/drawing/2014/main" id="{BF2770E2-D83D-CCDB-CCDC-9980C8261716}"/>
                  </a:ext>
                </a:extLst>
              </p:cNvPr>
              <p:cNvSpPr/>
              <p:nvPr/>
            </p:nvSpPr>
            <p:spPr>
              <a:xfrm>
                <a:off x="2838083" y="2746938"/>
                <a:ext cx="305953" cy="127960"/>
              </a:xfrm>
              <a:custGeom>
                <a:avLst/>
                <a:gdLst/>
                <a:ahLst/>
                <a:cxnLst/>
                <a:rect l="l" t="t" r="r" b="b"/>
                <a:pathLst>
                  <a:path w="305953" h="127960" extrusionOk="0">
                    <a:moveTo>
                      <a:pt x="0" y="127960"/>
                    </a:moveTo>
                    <a:lnTo>
                      <a:pt x="305953" y="127960"/>
                    </a:lnTo>
                    <a:lnTo>
                      <a:pt x="305953" y="0"/>
                    </a:lnTo>
                    <a:lnTo>
                      <a:pt x="0" y="0"/>
                    </a:lnTo>
                    <a:lnTo>
                      <a:pt x="0" y="127960"/>
                    </a:lnTo>
                    <a:close/>
                    <a:moveTo>
                      <a:pt x="76308" y="25370"/>
                    </a:moveTo>
                    <a:lnTo>
                      <a:pt x="229710" y="25370"/>
                    </a:lnTo>
                    <a:lnTo>
                      <a:pt x="229710" y="50805"/>
                    </a:lnTo>
                    <a:lnTo>
                      <a:pt x="76308" y="50805"/>
                    </a:lnTo>
                    <a:lnTo>
                      <a:pt x="76308" y="25370"/>
                    </a:lnTo>
                    <a:close/>
                    <a:moveTo>
                      <a:pt x="76308" y="76240"/>
                    </a:moveTo>
                    <a:lnTo>
                      <a:pt x="229710" y="76240"/>
                    </a:lnTo>
                    <a:lnTo>
                      <a:pt x="229710" y="101675"/>
                    </a:lnTo>
                    <a:lnTo>
                      <a:pt x="76308" y="101675"/>
                    </a:lnTo>
                    <a:lnTo>
                      <a:pt x="76308" y="7624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" name="Google Shape;315;p38">
                <a:extLst>
                  <a:ext uri="{FF2B5EF4-FFF2-40B4-BE49-F238E27FC236}">
                    <a16:creationId xmlns:a16="http://schemas.microsoft.com/office/drawing/2014/main" id="{6C1DFCBA-88E1-D613-71C4-DCCE3C48DD64}"/>
                  </a:ext>
                </a:extLst>
              </p:cNvPr>
              <p:cNvSpPr/>
              <p:nvPr/>
            </p:nvSpPr>
            <p:spPr>
              <a:xfrm>
                <a:off x="2914392" y="2529922"/>
                <a:ext cx="153401" cy="25435"/>
              </a:xfrm>
              <a:custGeom>
                <a:avLst/>
                <a:gdLst/>
                <a:ahLst/>
                <a:cxnLst/>
                <a:rect l="l" t="t" r="r" b="b"/>
                <a:pathLst>
                  <a:path w="153401" h="25435" extrusionOk="0">
                    <a:moveTo>
                      <a:pt x="0" y="0"/>
                    </a:moveTo>
                    <a:lnTo>
                      <a:pt x="153402" y="0"/>
                    </a:lnTo>
                    <a:lnTo>
                      <a:pt x="153402" y="25435"/>
                    </a:lnTo>
                    <a:lnTo>
                      <a:pt x="0" y="254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" name="Google Shape;316;p38">
                <a:extLst>
                  <a:ext uri="{FF2B5EF4-FFF2-40B4-BE49-F238E27FC236}">
                    <a16:creationId xmlns:a16="http://schemas.microsoft.com/office/drawing/2014/main" id="{16B2958A-5F8E-35A9-C912-957CF677FC7E}"/>
                  </a:ext>
                </a:extLst>
              </p:cNvPr>
              <p:cNvSpPr/>
              <p:nvPr/>
            </p:nvSpPr>
            <p:spPr>
              <a:xfrm>
                <a:off x="2838149" y="2900333"/>
                <a:ext cx="305953" cy="63555"/>
              </a:xfrm>
              <a:custGeom>
                <a:avLst/>
                <a:gdLst/>
                <a:ahLst/>
                <a:cxnLst/>
                <a:rect l="l" t="t" r="r" b="b"/>
                <a:pathLst>
                  <a:path w="305953" h="63555" extrusionOk="0">
                    <a:moveTo>
                      <a:pt x="54404" y="63555"/>
                    </a:moveTo>
                    <a:lnTo>
                      <a:pt x="251485" y="63555"/>
                    </a:lnTo>
                    <a:cubicBezTo>
                      <a:pt x="281563" y="63555"/>
                      <a:pt x="305953" y="39166"/>
                      <a:pt x="305953" y="9089"/>
                    </a:cubicBezTo>
                    <a:lnTo>
                      <a:pt x="305953" y="0"/>
                    </a:lnTo>
                    <a:lnTo>
                      <a:pt x="0" y="0"/>
                    </a:lnTo>
                    <a:lnTo>
                      <a:pt x="0" y="9089"/>
                    </a:lnTo>
                    <a:cubicBezTo>
                      <a:pt x="-65" y="39166"/>
                      <a:pt x="24325" y="63555"/>
                      <a:pt x="54404" y="635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" name="Google Shape;317;p38">
                <a:extLst>
                  <a:ext uri="{FF2B5EF4-FFF2-40B4-BE49-F238E27FC236}">
                    <a16:creationId xmlns:a16="http://schemas.microsoft.com/office/drawing/2014/main" id="{336CCED7-6D2B-1083-CA0E-5B067A8B2179}"/>
                  </a:ext>
                </a:extLst>
              </p:cNvPr>
              <p:cNvSpPr/>
              <p:nvPr/>
            </p:nvSpPr>
            <p:spPr>
              <a:xfrm>
                <a:off x="2863519" y="2580792"/>
                <a:ext cx="255146" cy="50870"/>
              </a:xfrm>
              <a:custGeom>
                <a:avLst/>
                <a:gdLst/>
                <a:ahLst/>
                <a:cxnLst/>
                <a:rect l="l" t="t" r="r" b="b"/>
                <a:pathLst>
                  <a:path w="255146" h="50870" extrusionOk="0">
                    <a:moveTo>
                      <a:pt x="255146" y="0"/>
                    </a:moveTo>
                    <a:cubicBezTo>
                      <a:pt x="247627" y="0"/>
                      <a:pt x="7585" y="0"/>
                      <a:pt x="0" y="0"/>
                    </a:cubicBezTo>
                    <a:lnTo>
                      <a:pt x="0" y="50870"/>
                    </a:lnTo>
                    <a:lnTo>
                      <a:pt x="255146" y="50870"/>
                    </a:lnTo>
                    <a:lnTo>
                      <a:pt x="25514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D23EFD2-2727-F7D5-3303-0FA81A0C0ED2}"/>
              </a:ext>
            </a:extLst>
          </p:cNvPr>
          <p:cNvGrpSpPr/>
          <p:nvPr/>
        </p:nvGrpSpPr>
        <p:grpSpPr>
          <a:xfrm>
            <a:off x="4678062" y="3684800"/>
            <a:ext cx="801300" cy="694200"/>
            <a:chOff x="4678062" y="3684800"/>
            <a:chExt cx="801300" cy="694200"/>
          </a:xfrm>
        </p:grpSpPr>
        <p:sp>
          <p:nvSpPr>
            <p:cNvPr id="8" name="Google Shape;311;p38">
              <a:extLst>
                <a:ext uri="{FF2B5EF4-FFF2-40B4-BE49-F238E27FC236}">
                  <a16:creationId xmlns:a16="http://schemas.microsoft.com/office/drawing/2014/main" id="{72D5153F-34AB-3069-7297-922AF1F415BD}"/>
                </a:ext>
              </a:extLst>
            </p:cNvPr>
            <p:cNvSpPr/>
            <p:nvPr/>
          </p:nvSpPr>
          <p:spPr>
            <a:xfrm>
              <a:off x="4678062" y="3684800"/>
              <a:ext cx="801300" cy="6942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i Jamjuree"/>
                <a:ea typeface="Bai Jamjuree"/>
                <a:cs typeface="Bai Jamjuree"/>
                <a:sym typeface="Bai Jamjuree"/>
              </a:endParaRPr>
            </a:p>
          </p:txBody>
        </p:sp>
        <p:grpSp>
          <p:nvGrpSpPr>
            <p:cNvPr id="17" name="Google Shape;318;p38">
              <a:extLst>
                <a:ext uri="{FF2B5EF4-FFF2-40B4-BE49-F238E27FC236}">
                  <a16:creationId xmlns:a16="http://schemas.microsoft.com/office/drawing/2014/main" id="{C04157C0-A77F-47DB-64A4-B903D73E12AE}"/>
                </a:ext>
              </a:extLst>
            </p:cNvPr>
            <p:cNvGrpSpPr/>
            <p:nvPr/>
          </p:nvGrpSpPr>
          <p:grpSpPr>
            <a:xfrm>
              <a:off x="4906820" y="3843023"/>
              <a:ext cx="343818" cy="377724"/>
              <a:chOff x="2793554" y="3215297"/>
              <a:chExt cx="395012" cy="433966"/>
            </a:xfrm>
          </p:grpSpPr>
          <p:sp>
            <p:nvSpPr>
              <p:cNvPr id="18" name="Google Shape;319;p38">
                <a:extLst>
                  <a:ext uri="{FF2B5EF4-FFF2-40B4-BE49-F238E27FC236}">
                    <a16:creationId xmlns:a16="http://schemas.microsoft.com/office/drawing/2014/main" id="{02676841-CEE9-5231-DA05-F43B51A66B3A}"/>
                  </a:ext>
                </a:extLst>
              </p:cNvPr>
              <p:cNvSpPr/>
              <p:nvPr/>
            </p:nvSpPr>
            <p:spPr>
              <a:xfrm>
                <a:off x="2892617" y="3291537"/>
                <a:ext cx="108741" cy="127960"/>
              </a:xfrm>
              <a:custGeom>
                <a:avLst/>
                <a:gdLst/>
                <a:ahLst/>
                <a:cxnLst/>
                <a:rect l="l" t="t" r="r" b="b"/>
                <a:pathLst>
                  <a:path w="108741" h="127960" extrusionOk="0">
                    <a:moveTo>
                      <a:pt x="67089" y="54597"/>
                    </a:moveTo>
                    <a:lnTo>
                      <a:pt x="67089" y="0"/>
                    </a:lnTo>
                    <a:lnTo>
                      <a:pt x="41653" y="0"/>
                    </a:lnTo>
                    <a:lnTo>
                      <a:pt x="41653" y="54597"/>
                    </a:lnTo>
                    <a:lnTo>
                      <a:pt x="0" y="127960"/>
                    </a:lnTo>
                    <a:lnTo>
                      <a:pt x="108741" y="127960"/>
                    </a:lnTo>
                    <a:lnTo>
                      <a:pt x="67089" y="5459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" name="Google Shape;320;p38">
                <a:extLst>
                  <a:ext uri="{FF2B5EF4-FFF2-40B4-BE49-F238E27FC236}">
                    <a16:creationId xmlns:a16="http://schemas.microsoft.com/office/drawing/2014/main" id="{E73A02C9-7198-C20F-58A4-25032EED98C9}"/>
                  </a:ext>
                </a:extLst>
              </p:cNvPr>
              <p:cNvSpPr/>
              <p:nvPr/>
            </p:nvSpPr>
            <p:spPr>
              <a:xfrm>
                <a:off x="2793554" y="3215297"/>
                <a:ext cx="305953" cy="433966"/>
              </a:xfrm>
              <a:custGeom>
                <a:avLst/>
                <a:gdLst/>
                <a:ahLst/>
                <a:cxnLst/>
                <a:rect l="l" t="t" r="r" b="b"/>
                <a:pathLst>
                  <a:path w="305953" h="433966" extrusionOk="0">
                    <a:moveTo>
                      <a:pt x="0" y="433966"/>
                    </a:moveTo>
                    <a:lnTo>
                      <a:pt x="305953" y="433966"/>
                    </a:lnTo>
                    <a:lnTo>
                      <a:pt x="305953" y="0"/>
                    </a:lnTo>
                    <a:lnTo>
                      <a:pt x="0" y="0"/>
                    </a:lnTo>
                    <a:lnTo>
                      <a:pt x="0" y="433966"/>
                    </a:lnTo>
                    <a:close/>
                    <a:moveTo>
                      <a:pt x="255146" y="383095"/>
                    </a:moveTo>
                    <a:lnTo>
                      <a:pt x="166152" y="383095"/>
                    </a:lnTo>
                    <a:lnTo>
                      <a:pt x="166152" y="357661"/>
                    </a:lnTo>
                    <a:lnTo>
                      <a:pt x="255146" y="357661"/>
                    </a:lnTo>
                    <a:lnTo>
                      <a:pt x="255146" y="383095"/>
                    </a:lnTo>
                    <a:close/>
                    <a:moveTo>
                      <a:pt x="255146" y="331375"/>
                    </a:moveTo>
                    <a:lnTo>
                      <a:pt x="166152" y="331375"/>
                    </a:lnTo>
                    <a:lnTo>
                      <a:pt x="166152" y="305940"/>
                    </a:lnTo>
                    <a:lnTo>
                      <a:pt x="255146" y="305940"/>
                    </a:lnTo>
                    <a:lnTo>
                      <a:pt x="255146" y="331375"/>
                    </a:lnTo>
                    <a:close/>
                    <a:moveTo>
                      <a:pt x="115280" y="124102"/>
                    </a:moveTo>
                    <a:lnTo>
                      <a:pt x="115280" y="50870"/>
                    </a:lnTo>
                    <a:lnTo>
                      <a:pt x="191589" y="50870"/>
                    </a:lnTo>
                    <a:lnTo>
                      <a:pt x="191589" y="124102"/>
                    </a:lnTo>
                    <a:lnTo>
                      <a:pt x="251615" y="229700"/>
                    </a:lnTo>
                    <a:lnTo>
                      <a:pt x="55253" y="229700"/>
                    </a:lnTo>
                    <a:lnTo>
                      <a:pt x="115280" y="124102"/>
                    </a:lnTo>
                    <a:close/>
                    <a:moveTo>
                      <a:pt x="50872" y="255135"/>
                    </a:moveTo>
                    <a:lnTo>
                      <a:pt x="255146" y="255135"/>
                    </a:lnTo>
                    <a:lnTo>
                      <a:pt x="255146" y="280570"/>
                    </a:lnTo>
                    <a:lnTo>
                      <a:pt x="50872" y="280570"/>
                    </a:lnTo>
                    <a:lnTo>
                      <a:pt x="50872" y="255135"/>
                    </a:lnTo>
                    <a:close/>
                    <a:moveTo>
                      <a:pt x="50872" y="305940"/>
                    </a:moveTo>
                    <a:lnTo>
                      <a:pt x="139866" y="305940"/>
                    </a:lnTo>
                    <a:lnTo>
                      <a:pt x="139866" y="331375"/>
                    </a:lnTo>
                    <a:lnTo>
                      <a:pt x="50872" y="331375"/>
                    </a:lnTo>
                    <a:lnTo>
                      <a:pt x="50872" y="305940"/>
                    </a:lnTo>
                    <a:close/>
                    <a:moveTo>
                      <a:pt x="50872" y="357661"/>
                    </a:moveTo>
                    <a:lnTo>
                      <a:pt x="139866" y="357661"/>
                    </a:lnTo>
                    <a:lnTo>
                      <a:pt x="139866" y="383095"/>
                    </a:lnTo>
                    <a:lnTo>
                      <a:pt x="50872" y="383095"/>
                    </a:lnTo>
                    <a:lnTo>
                      <a:pt x="50872" y="357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" name="Google Shape;321;p38">
                <a:extLst>
                  <a:ext uri="{FF2B5EF4-FFF2-40B4-BE49-F238E27FC236}">
                    <a16:creationId xmlns:a16="http://schemas.microsoft.com/office/drawing/2014/main" id="{BED3440D-49F8-DE7C-AD50-2AC6436780AB}"/>
                  </a:ext>
                </a:extLst>
              </p:cNvPr>
              <p:cNvSpPr/>
              <p:nvPr/>
            </p:nvSpPr>
            <p:spPr>
              <a:xfrm>
                <a:off x="3137694" y="3253146"/>
                <a:ext cx="50872" cy="63826"/>
              </a:xfrm>
              <a:custGeom>
                <a:avLst/>
                <a:gdLst/>
                <a:ahLst/>
                <a:cxnLst/>
                <a:rect l="l" t="t" r="r" b="b"/>
                <a:pathLst>
                  <a:path w="50872" h="63826" extrusionOk="0">
                    <a:moveTo>
                      <a:pt x="0" y="26033"/>
                    </a:moveTo>
                    <a:lnTo>
                      <a:pt x="0" y="63826"/>
                    </a:lnTo>
                    <a:lnTo>
                      <a:pt x="50872" y="63826"/>
                    </a:lnTo>
                    <a:lnTo>
                      <a:pt x="50872" y="25510"/>
                    </a:lnTo>
                    <a:cubicBezTo>
                      <a:pt x="50872" y="11191"/>
                      <a:pt x="39102" y="-383"/>
                      <a:pt x="24782" y="10"/>
                    </a:cubicBezTo>
                    <a:cubicBezTo>
                      <a:pt x="10920" y="402"/>
                      <a:pt x="0" y="12172"/>
                      <a:pt x="0" y="260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" name="Google Shape;322;p38">
                <a:extLst>
                  <a:ext uri="{FF2B5EF4-FFF2-40B4-BE49-F238E27FC236}">
                    <a16:creationId xmlns:a16="http://schemas.microsoft.com/office/drawing/2014/main" id="{23DB3F78-7B95-21F9-276D-0DA63BD11372}"/>
                  </a:ext>
                </a:extLst>
              </p:cNvPr>
              <p:cNvSpPr/>
              <p:nvPr/>
            </p:nvSpPr>
            <p:spPr>
              <a:xfrm>
                <a:off x="3137694" y="3394127"/>
                <a:ext cx="50872" cy="227215"/>
              </a:xfrm>
              <a:custGeom>
                <a:avLst/>
                <a:gdLst/>
                <a:ahLst/>
                <a:cxnLst/>
                <a:rect l="l" t="t" r="r" b="b"/>
                <a:pathLst>
                  <a:path w="50872" h="227215" extrusionOk="0">
                    <a:moveTo>
                      <a:pt x="0" y="188899"/>
                    </a:moveTo>
                    <a:lnTo>
                      <a:pt x="25436" y="227216"/>
                    </a:lnTo>
                    <a:lnTo>
                      <a:pt x="50872" y="188899"/>
                    </a:lnTo>
                    <a:lnTo>
                      <a:pt x="50872" y="0"/>
                    </a:lnTo>
                    <a:lnTo>
                      <a:pt x="0" y="0"/>
                    </a:lnTo>
                    <a:lnTo>
                      <a:pt x="0" y="18889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323;p38">
                <a:extLst>
                  <a:ext uri="{FF2B5EF4-FFF2-40B4-BE49-F238E27FC236}">
                    <a16:creationId xmlns:a16="http://schemas.microsoft.com/office/drawing/2014/main" id="{0108184F-B5F7-02CB-4149-012F454A8778}"/>
                  </a:ext>
                </a:extLst>
              </p:cNvPr>
              <p:cNvSpPr/>
              <p:nvPr/>
            </p:nvSpPr>
            <p:spPr>
              <a:xfrm>
                <a:off x="3137694" y="3343257"/>
                <a:ext cx="50872" cy="25435"/>
              </a:xfrm>
              <a:custGeom>
                <a:avLst/>
                <a:gdLst/>
                <a:ahLst/>
                <a:cxnLst/>
                <a:rect l="l" t="t" r="r" b="b"/>
                <a:pathLst>
                  <a:path w="50872" h="25435" extrusionOk="0">
                    <a:moveTo>
                      <a:pt x="0" y="0"/>
                    </a:moveTo>
                    <a:lnTo>
                      <a:pt x="50872" y="0"/>
                    </a:lnTo>
                    <a:lnTo>
                      <a:pt x="50872" y="25435"/>
                    </a:lnTo>
                    <a:lnTo>
                      <a:pt x="0" y="254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E6E2F2E-8F82-686C-3C05-9E708013E0A9}"/>
              </a:ext>
            </a:extLst>
          </p:cNvPr>
          <p:cNvSpPr/>
          <p:nvPr/>
        </p:nvSpPr>
        <p:spPr>
          <a:xfrm>
            <a:off x="4678062" y="1238491"/>
            <a:ext cx="3574208" cy="474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CODE CHECK</a:t>
            </a:r>
          </a:p>
        </p:txBody>
      </p:sp>
    </p:spTree>
    <p:extLst>
      <p:ext uri="{BB962C8B-B14F-4D97-AF65-F5344CB8AC3E}">
        <p14:creationId xmlns:p14="http://schemas.microsoft.com/office/powerpoint/2010/main" val="94308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PACKAGES &amp; MODULES</a:t>
            </a:r>
            <a:endParaRPr dirty="0"/>
          </a:p>
        </p:txBody>
      </p:sp>
      <p:sp>
        <p:nvSpPr>
          <p:cNvPr id="338" name="Google Shape;338;p39"/>
          <p:cNvSpPr txBox="1">
            <a:spLocks noGrp="1"/>
          </p:cNvSpPr>
          <p:nvPr>
            <p:ph type="subTitle" idx="1"/>
          </p:nvPr>
        </p:nvSpPr>
        <p:spPr>
          <a:xfrm>
            <a:off x="128729" y="1684971"/>
            <a:ext cx="2845006" cy="1094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Encoding and decoding binary data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Strengths</a:t>
            </a:r>
            <a:r>
              <a:rPr lang="en-US" dirty="0"/>
              <a:t>: b64decode is simple and fast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Weaknesses: </a:t>
            </a:r>
            <a:r>
              <a:rPr lang="en-US" dirty="0"/>
              <a:t>data size increase with encoding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ACE7E7D-B8BA-52AA-4255-46AE91C57ADB}"/>
              </a:ext>
            </a:extLst>
          </p:cNvPr>
          <p:cNvSpPr/>
          <p:nvPr/>
        </p:nvSpPr>
        <p:spPr>
          <a:xfrm>
            <a:off x="221329" y="1268525"/>
            <a:ext cx="1893782" cy="3356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base64</a:t>
            </a:r>
            <a:r>
              <a:rPr lang="en-US" dirty="0">
                <a:sym typeface="Wingdings" pitchFamily="2" charset="2"/>
              </a:rPr>
              <a:t>b64decode</a:t>
            </a:r>
            <a:endParaRPr lang="en-US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79CCD6E-46C9-BA09-A220-BE5EBAD7E1E3}"/>
              </a:ext>
            </a:extLst>
          </p:cNvPr>
          <p:cNvSpPr/>
          <p:nvPr/>
        </p:nvSpPr>
        <p:spPr>
          <a:xfrm>
            <a:off x="3145807" y="1268525"/>
            <a:ext cx="1794075" cy="33566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matplotlib.pyplot</a:t>
            </a:r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9FE66388-04B8-06C4-64D0-D34A24EC671C}"/>
              </a:ext>
            </a:extLst>
          </p:cNvPr>
          <p:cNvSpPr/>
          <p:nvPr/>
        </p:nvSpPr>
        <p:spPr>
          <a:xfrm>
            <a:off x="6150809" y="1268525"/>
            <a:ext cx="1794075" cy="33566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gzip</a:t>
            </a:r>
            <a:endParaRPr lang="en-US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30CAEDA-B3A0-E9E7-F7A5-C8AFEAABC69D}"/>
              </a:ext>
            </a:extLst>
          </p:cNvPr>
          <p:cNvSpPr/>
          <p:nvPr/>
        </p:nvSpPr>
        <p:spPr>
          <a:xfrm>
            <a:off x="221329" y="3105138"/>
            <a:ext cx="1893782" cy="335666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array</a:t>
            </a:r>
            <a:r>
              <a:rPr lang="en-US" dirty="0" err="1">
                <a:sym typeface="Wingdings" pitchFamily="2" charset="2"/>
              </a:rPr>
              <a:t>array</a:t>
            </a:r>
            <a:endParaRPr lang="en-US" dirty="0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5EBD1CC-B1FC-E564-82AE-70C2FE582B1F}"/>
              </a:ext>
            </a:extLst>
          </p:cNvPr>
          <p:cNvSpPr/>
          <p:nvPr/>
        </p:nvSpPr>
        <p:spPr>
          <a:xfrm>
            <a:off x="3145807" y="3100451"/>
            <a:ext cx="2008212" cy="33566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xml.etree.ElementTree</a:t>
            </a:r>
            <a:r>
              <a:rPr lang="en-US" dirty="0"/>
              <a:t> 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152A448-A66A-9F56-F144-56073C6C272B}"/>
              </a:ext>
            </a:extLst>
          </p:cNvPr>
          <p:cNvSpPr/>
          <p:nvPr/>
        </p:nvSpPr>
        <p:spPr>
          <a:xfrm>
            <a:off x="6150809" y="3104674"/>
            <a:ext cx="1794075" cy="335666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sys</a:t>
            </a:r>
          </a:p>
        </p:txBody>
      </p:sp>
      <p:sp>
        <p:nvSpPr>
          <p:cNvPr id="30" name="Google Shape;338;p39">
            <a:extLst>
              <a:ext uri="{FF2B5EF4-FFF2-40B4-BE49-F238E27FC236}">
                <a16:creationId xmlns:a16="http://schemas.microsoft.com/office/drawing/2014/main" id="{F9092972-4E32-66E9-5179-1CD7DFB6B3AD}"/>
              </a:ext>
            </a:extLst>
          </p:cNvPr>
          <p:cNvSpPr txBox="1">
            <a:spLocks/>
          </p:cNvSpPr>
          <p:nvPr/>
        </p:nvSpPr>
        <p:spPr>
          <a:xfrm>
            <a:off x="128729" y="3458529"/>
            <a:ext cx="3005002" cy="1094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/>
            <a:r>
              <a:rPr lang="en-US" dirty="0"/>
              <a:t>Class that allows manipulation and storage of specific data types (‘</a:t>
            </a:r>
            <a:r>
              <a:rPr lang="en-US" dirty="0" err="1"/>
              <a:t>f’:floating</a:t>
            </a:r>
            <a:r>
              <a:rPr lang="en-US" dirty="0"/>
              <a:t> point numbers)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b="1" dirty="0"/>
              <a:t>Strengths</a:t>
            </a:r>
            <a:r>
              <a:rPr lang="en-US" dirty="0"/>
              <a:t>: good for large data sets compared to list</a:t>
            </a:r>
          </a:p>
          <a:p>
            <a:pPr marL="0" indent="0" algn="l"/>
            <a:r>
              <a:rPr lang="en-US" b="1" dirty="0"/>
              <a:t>Weaknesses: </a:t>
            </a:r>
            <a:r>
              <a:rPr lang="en-US" dirty="0"/>
              <a:t>less kinds of data types than list</a:t>
            </a:r>
          </a:p>
        </p:txBody>
      </p:sp>
      <p:sp>
        <p:nvSpPr>
          <p:cNvPr id="31" name="Google Shape;338;p39">
            <a:extLst>
              <a:ext uri="{FF2B5EF4-FFF2-40B4-BE49-F238E27FC236}">
                <a16:creationId xmlns:a16="http://schemas.microsoft.com/office/drawing/2014/main" id="{EC9EC02C-524B-F2C9-B85E-2617874B9CB8}"/>
              </a:ext>
            </a:extLst>
          </p:cNvPr>
          <p:cNvSpPr txBox="1">
            <a:spLocks/>
          </p:cNvSpPr>
          <p:nvPr/>
        </p:nvSpPr>
        <p:spPr>
          <a:xfrm>
            <a:off x="3075860" y="3464198"/>
            <a:ext cx="3164998" cy="1443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/>
            <a:r>
              <a:rPr lang="en-US" dirty="0"/>
              <a:t>Module for xml parsing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b="1" dirty="0"/>
              <a:t>Strengths</a:t>
            </a:r>
            <a:r>
              <a:rPr lang="en-US" dirty="0"/>
              <a:t>: fast and memory efficient (</a:t>
            </a:r>
            <a:r>
              <a:rPr lang="en-US" dirty="0" err="1"/>
              <a:t>interparse</a:t>
            </a:r>
            <a:r>
              <a:rPr lang="en-US" dirty="0"/>
              <a:t>, </a:t>
            </a:r>
            <a:r>
              <a:rPr lang="en-US" dirty="0" err="1"/>
              <a:t>element.clear</a:t>
            </a:r>
            <a:r>
              <a:rPr lang="en-US" dirty="0"/>
              <a:t>())</a:t>
            </a:r>
          </a:p>
          <a:p>
            <a:pPr marL="0" indent="0" algn="l"/>
            <a:r>
              <a:rPr lang="en-US" b="1" dirty="0"/>
              <a:t>Weaknesses: </a:t>
            </a:r>
            <a:r>
              <a:rPr lang="en-US" dirty="0"/>
              <a:t>the more complex the document the more difficult to parse and extract data. (</a:t>
            </a:r>
            <a:r>
              <a:rPr lang="en-US" dirty="0" err="1"/>
              <a:t>lxml</a:t>
            </a:r>
            <a:r>
              <a:rPr lang="en-US" dirty="0"/>
              <a:t>)</a:t>
            </a:r>
          </a:p>
        </p:txBody>
      </p:sp>
      <p:sp>
        <p:nvSpPr>
          <p:cNvPr id="32" name="Google Shape;338;p39">
            <a:extLst>
              <a:ext uri="{FF2B5EF4-FFF2-40B4-BE49-F238E27FC236}">
                <a16:creationId xmlns:a16="http://schemas.microsoft.com/office/drawing/2014/main" id="{14F8E586-DBF3-8599-51AE-E02923622F5B}"/>
              </a:ext>
            </a:extLst>
          </p:cNvPr>
          <p:cNvSpPr txBox="1">
            <a:spLocks/>
          </p:cNvSpPr>
          <p:nvPr/>
        </p:nvSpPr>
        <p:spPr>
          <a:xfrm>
            <a:off x="6068464" y="3464199"/>
            <a:ext cx="3164998" cy="1443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/>
            <a:r>
              <a:rPr lang="en-US" dirty="0"/>
              <a:t>Module that allows interaction with the user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b="1" dirty="0"/>
              <a:t>Strengths</a:t>
            </a:r>
            <a:r>
              <a:rPr lang="en-US" dirty="0"/>
              <a:t>: access to command-line arguments </a:t>
            </a:r>
          </a:p>
          <a:p>
            <a:pPr marL="0" indent="0" algn="l"/>
            <a:r>
              <a:rPr lang="en-US" b="1" dirty="0"/>
              <a:t>Weaknesses: </a:t>
            </a:r>
            <a:r>
              <a:rPr lang="en-US" dirty="0"/>
              <a:t>just for interacting with the user and the system environment</a:t>
            </a:r>
          </a:p>
        </p:txBody>
      </p:sp>
      <p:sp>
        <p:nvSpPr>
          <p:cNvPr id="33" name="Google Shape;338;p39">
            <a:extLst>
              <a:ext uri="{FF2B5EF4-FFF2-40B4-BE49-F238E27FC236}">
                <a16:creationId xmlns:a16="http://schemas.microsoft.com/office/drawing/2014/main" id="{DC073946-5D10-A70A-E447-3E649614C9F0}"/>
              </a:ext>
            </a:extLst>
          </p:cNvPr>
          <p:cNvSpPr txBox="1">
            <a:spLocks/>
          </p:cNvSpPr>
          <p:nvPr/>
        </p:nvSpPr>
        <p:spPr>
          <a:xfrm>
            <a:off x="6080039" y="1666402"/>
            <a:ext cx="3164998" cy="1443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/>
            <a:r>
              <a:rPr lang="en-US" dirty="0"/>
              <a:t>Module that allows compressing files and reading .</a:t>
            </a:r>
            <a:r>
              <a:rPr lang="en-US" dirty="0" err="1"/>
              <a:t>gz</a:t>
            </a:r>
            <a:r>
              <a:rPr lang="en-US" dirty="0"/>
              <a:t> files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b="1" dirty="0"/>
              <a:t>Strengths</a:t>
            </a:r>
            <a:r>
              <a:rPr lang="en-US" dirty="0"/>
              <a:t>: reduces size of files</a:t>
            </a:r>
          </a:p>
          <a:p>
            <a:pPr marL="0" indent="0" algn="l"/>
            <a:r>
              <a:rPr lang="en-US" b="1" dirty="0"/>
              <a:t>Weaknesses: </a:t>
            </a:r>
            <a:r>
              <a:rPr lang="en-US" dirty="0"/>
              <a:t>only supports </a:t>
            </a:r>
            <a:r>
              <a:rPr lang="en-US" dirty="0" err="1"/>
              <a:t>gzip</a:t>
            </a:r>
            <a:r>
              <a:rPr lang="en-US" dirty="0"/>
              <a:t>, not other compression formats (zip files)</a:t>
            </a:r>
          </a:p>
        </p:txBody>
      </p:sp>
      <p:sp>
        <p:nvSpPr>
          <p:cNvPr id="34" name="Google Shape;338;p39">
            <a:extLst>
              <a:ext uri="{FF2B5EF4-FFF2-40B4-BE49-F238E27FC236}">
                <a16:creationId xmlns:a16="http://schemas.microsoft.com/office/drawing/2014/main" id="{FD2A0B3F-E7C6-B0C0-E4B9-66CCABA7B207}"/>
              </a:ext>
            </a:extLst>
          </p:cNvPr>
          <p:cNvSpPr txBox="1">
            <a:spLocks/>
          </p:cNvSpPr>
          <p:nvPr/>
        </p:nvSpPr>
        <p:spPr>
          <a:xfrm>
            <a:off x="3075860" y="1665475"/>
            <a:ext cx="3164998" cy="1443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i Jamjuree"/>
              <a:buNone/>
              <a:defRPr sz="1200" b="0" i="0" u="none" strike="noStrike" cap="none">
                <a:solidFill>
                  <a:schemeClr val="dk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/>
            <a:r>
              <a:rPr lang="en-US" dirty="0"/>
              <a:t>Plotting in Python</a:t>
            </a:r>
          </a:p>
          <a:p>
            <a:pPr marL="0" indent="0" algn="l"/>
            <a:endParaRPr lang="en-US" dirty="0"/>
          </a:p>
          <a:p>
            <a:pPr marL="0" indent="0" algn="l"/>
            <a:r>
              <a:rPr lang="en-US" b="1" dirty="0"/>
              <a:t>Strengths</a:t>
            </a:r>
            <a:r>
              <a:rPr lang="en-US" dirty="0"/>
              <a:t>: a lot of different plots to do, integrates with </a:t>
            </a:r>
            <a:r>
              <a:rPr lang="en-US" dirty="0" err="1"/>
              <a:t>Numpy</a:t>
            </a:r>
            <a:r>
              <a:rPr lang="en-US" dirty="0"/>
              <a:t> and Pandas</a:t>
            </a:r>
          </a:p>
          <a:p>
            <a:pPr marL="0" indent="0" algn="l"/>
            <a:r>
              <a:rPr lang="en-US" b="1" dirty="0"/>
              <a:t>Weaknesses: </a:t>
            </a:r>
            <a:r>
              <a:rPr lang="en-US" dirty="0"/>
              <a:t>complex to get the desired output in the plot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" grpId="0" build="p"/>
      <p:bldP spid="2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30" grpId="0"/>
      <p:bldP spid="31" grpId="0"/>
      <p:bldP spid="32" grpId="0"/>
      <p:bldP spid="33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>
          <a:extLst>
            <a:ext uri="{FF2B5EF4-FFF2-40B4-BE49-F238E27FC236}">
              <a16:creationId xmlns:a16="http://schemas.microsoft.com/office/drawing/2014/main" id="{40DB457D-510E-59DC-7A7D-D2EBE318C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8">
            <a:extLst>
              <a:ext uri="{FF2B5EF4-FFF2-40B4-BE49-F238E27FC236}">
                <a16:creationId xmlns:a16="http://schemas.microsoft.com/office/drawing/2014/main" id="{7C6E3EE2-7579-263E-73DA-CDB1810605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BUGS, STRAIGHTFORWARD &amp; DIFFICULT PARTS</a:t>
            </a:r>
            <a:endParaRPr sz="2400" dirty="0"/>
          </a:p>
        </p:txBody>
      </p:sp>
      <p:sp>
        <p:nvSpPr>
          <p:cNvPr id="300" name="Google Shape;300;p38">
            <a:extLst>
              <a:ext uri="{FF2B5EF4-FFF2-40B4-BE49-F238E27FC236}">
                <a16:creationId xmlns:a16="http://schemas.microsoft.com/office/drawing/2014/main" id="{58B06CE0-F0E3-628A-35D9-2DF0A6111DE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20000" y="2062464"/>
            <a:ext cx="2867100" cy="25410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Ion computation (backwards)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Peak-ion matching</a:t>
            </a:r>
            <a:br>
              <a:rPr lang="en-US" sz="1600" dirty="0"/>
            </a:br>
            <a:r>
              <a:rPr lang="en-US" sz="1400" b="0" dirty="0"/>
              <a:t>- Select and apply tolerance and intensity threshold</a:t>
            </a:r>
            <a:br>
              <a:rPr lang="en-US" sz="1400" b="0" dirty="0"/>
            </a:br>
            <a:br>
              <a:rPr lang="en-US" sz="1400" dirty="0"/>
            </a:br>
            <a:r>
              <a:rPr lang="en-US" sz="1600" dirty="0"/>
              <a:t>Legend in the stem plot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Exceptions</a:t>
            </a:r>
            <a:br>
              <a:rPr lang="en-US" sz="1600" dirty="0"/>
            </a:br>
            <a:r>
              <a:rPr lang="en-US" sz="1400" b="0" dirty="0"/>
              <a:t>- Raise different errors for scan number and name space issues</a:t>
            </a: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br>
              <a:rPr lang="en-US" sz="1600" dirty="0"/>
            </a:br>
            <a:endParaRPr sz="16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CA75802-9A7B-311D-B40F-58C811F393D7}"/>
              </a:ext>
            </a:extLst>
          </p:cNvPr>
          <p:cNvSpPr/>
          <p:nvPr/>
        </p:nvSpPr>
        <p:spPr>
          <a:xfrm>
            <a:off x="720000" y="1238491"/>
            <a:ext cx="3574208" cy="474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DIFFICULTIES</a:t>
            </a:r>
          </a:p>
        </p:txBody>
      </p:sp>
      <p:sp>
        <p:nvSpPr>
          <p:cNvPr id="3" name="Google Shape;302;p38">
            <a:extLst>
              <a:ext uri="{FF2B5EF4-FFF2-40B4-BE49-F238E27FC236}">
                <a16:creationId xmlns:a16="http://schemas.microsoft.com/office/drawing/2014/main" id="{5D31787A-97D5-3634-610C-A01A4321A9ED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4987363" y="2062464"/>
            <a:ext cx="3436637" cy="23609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Xml parsing</a:t>
            </a:r>
            <a:br>
              <a:rPr lang="en" sz="1600" dirty="0"/>
            </a:br>
            <a:br>
              <a:rPr lang="en" sz="1600" dirty="0"/>
            </a:br>
            <a:r>
              <a:rPr lang="en" sz="1600" dirty="0"/>
              <a:t>Class and modules</a:t>
            </a:r>
            <a:endParaRPr sz="1600" dirty="0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E5D7A09-89C7-6085-C235-971CE6789AD2}"/>
              </a:ext>
            </a:extLst>
          </p:cNvPr>
          <p:cNvSpPr/>
          <p:nvPr/>
        </p:nvSpPr>
        <p:spPr>
          <a:xfrm>
            <a:off x="4678062" y="1238491"/>
            <a:ext cx="3574208" cy="47456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SUCCESSES</a:t>
            </a:r>
          </a:p>
        </p:txBody>
      </p:sp>
    </p:spTree>
    <p:extLst>
      <p:ext uri="{BB962C8B-B14F-4D97-AF65-F5344CB8AC3E}">
        <p14:creationId xmlns:p14="http://schemas.microsoft.com/office/powerpoint/2010/main" val="3819663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4"/>
          <p:cNvSpPr txBox="1">
            <a:spLocks noGrp="1"/>
          </p:cNvSpPr>
          <p:nvPr>
            <p:ph type="title"/>
          </p:nvPr>
        </p:nvSpPr>
        <p:spPr>
          <a:xfrm>
            <a:off x="753338" y="1417813"/>
            <a:ext cx="3937800" cy="56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My experience</a:t>
            </a:r>
            <a:endParaRPr dirty="0"/>
          </a:p>
        </p:txBody>
      </p:sp>
      <p:sp>
        <p:nvSpPr>
          <p:cNvPr id="228" name="Google Shape;228;p34"/>
          <p:cNvSpPr txBox="1">
            <a:spLocks noGrp="1"/>
          </p:cNvSpPr>
          <p:nvPr>
            <p:ph type="subTitle" idx="1"/>
          </p:nvPr>
        </p:nvSpPr>
        <p:spPr>
          <a:xfrm rot="-262">
            <a:off x="753337" y="1929446"/>
            <a:ext cx="3937800" cy="179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Bioinformatics</a:t>
            </a:r>
            <a:endParaRPr dirty="0"/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Translation from a DNA sequence, Blast, analyses of the data…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Computing</a:t>
            </a:r>
          </a:p>
          <a:p>
            <a:pPr marL="457200" lvl="0" indent="-304800" algn="l" rtl="0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-US" dirty="0"/>
              <a:t>Python language, data-structures, modules, classes, xml parsing, relational databases…</a:t>
            </a:r>
          </a:p>
          <a:p>
            <a:pPr marL="152400" lvl="0" indent="0" algn="l" rtl="0">
              <a:spcBef>
                <a:spcPts val="100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pic>
        <p:nvPicPr>
          <p:cNvPr id="230" name="Google Shape;23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4425" y="642938"/>
            <a:ext cx="1009650" cy="101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8548" y="2571748"/>
            <a:ext cx="1373549" cy="210502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C5EEEA-98D4-AA68-CE13-98895BE8EAE0}"/>
              </a:ext>
            </a:extLst>
          </p:cNvPr>
          <p:cNvSpPr>
            <a:spLocks noGrp="1"/>
          </p:cNvSpPr>
          <p:nvPr>
            <p:ph type="pic" idx="2"/>
          </p:nvPr>
        </p:nvSpPr>
        <p:spPr/>
        <p:txBody>
          <a:bodyPr/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0"/>
          <p:cNvSpPr txBox="1">
            <a:spLocks noGrp="1"/>
          </p:cNvSpPr>
          <p:nvPr>
            <p:ph type="ctrTitle"/>
          </p:nvPr>
        </p:nvSpPr>
        <p:spPr>
          <a:xfrm>
            <a:off x="2571750" y="2008500"/>
            <a:ext cx="4000500" cy="112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pic>
        <p:nvPicPr>
          <p:cNvPr id="525" name="Google Shape;52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7152" y="3423550"/>
            <a:ext cx="1835848" cy="18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09550" y="994002"/>
            <a:ext cx="1914525" cy="242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7550" y="602900"/>
            <a:ext cx="2305050" cy="161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Chemistry Solutions Meeting by Slidesgo">
  <a:themeElements>
    <a:clrScheme name="Simple Light">
      <a:dk1>
        <a:srgbClr val="424141"/>
      </a:dk1>
      <a:lt1>
        <a:srgbClr val="E9FFE7"/>
      </a:lt1>
      <a:dk2>
        <a:srgbClr val="D1EBCE"/>
      </a:dk2>
      <a:lt2>
        <a:srgbClr val="8BC065"/>
      </a:lt2>
      <a:accent1>
        <a:srgbClr val="59733D"/>
      </a:accent1>
      <a:accent2>
        <a:srgbClr val="E6E9E3"/>
      </a:accent2>
      <a:accent3>
        <a:srgbClr val="606060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581</TotalTime>
  <Words>668</Words>
  <Application>Microsoft Macintosh PowerPoint</Application>
  <PresentationFormat>On-screen Show (16:9)</PresentationFormat>
  <Paragraphs>129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Bai Jamjuree</vt:lpstr>
      <vt:lpstr>Calibri</vt:lpstr>
      <vt:lpstr>Wingdings</vt:lpstr>
      <vt:lpstr>Arial</vt:lpstr>
      <vt:lpstr>Nunito</vt:lpstr>
      <vt:lpstr>Figtree</vt:lpstr>
      <vt:lpstr>Green Chemistry Solutions Meeting by Slidesgo</vt:lpstr>
      <vt:lpstr>MS/MS Viewer Project</vt:lpstr>
      <vt:lpstr>Project requirements</vt:lpstr>
      <vt:lpstr>HOW WELL DID I MEET THE REQUIREMENTS?</vt:lpstr>
      <vt:lpstr>PowerPoint Presentation</vt:lpstr>
      <vt:lpstr>PowerPoint Presentation</vt:lpstr>
      <vt:lpstr>SCIENTIFIC MODELING TRADE-OFFS</vt:lpstr>
      <vt:lpstr>TESTS FOR CORRECTNESS</vt:lpstr>
      <vt:lpstr>TESTS FOR CORRECTNESS</vt:lpstr>
      <vt:lpstr>PACKAGES &amp; MODULES</vt:lpstr>
      <vt:lpstr>BUGS, STRAIGHTFORWARD &amp; DIFFICULT PARTS</vt:lpstr>
      <vt:lpstr>My experience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Sonsoles Liria Veiga</cp:lastModifiedBy>
  <cp:revision>12</cp:revision>
  <dcterms:modified xsi:type="dcterms:W3CDTF">2024-12-20T20:12:37Z</dcterms:modified>
</cp:coreProperties>
</file>